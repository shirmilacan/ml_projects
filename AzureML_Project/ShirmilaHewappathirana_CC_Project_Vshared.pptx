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27"/>
  </p:notesMasterIdLst>
  <p:sldIdLst>
    <p:sldId id="337" r:id="rId2"/>
    <p:sldId id="417" r:id="rId3"/>
    <p:sldId id="338" r:id="rId4"/>
    <p:sldId id="257" r:id="rId5"/>
    <p:sldId id="341" r:id="rId6"/>
    <p:sldId id="431" r:id="rId7"/>
    <p:sldId id="374" r:id="rId8"/>
    <p:sldId id="420" r:id="rId9"/>
    <p:sldId id="428" r:id="rId10"/>
    <p:sldId id="429" r:id="rId11"/>
    <p:sldId id="430" r:id="rId12"/>
    <p:sldId id="432" r:id="rId13"/>
    <p:sldId id="419" r:id="rId14"/>
    <p:sldId id="418" r:id="rId15"/>
    <p:sldId id="343" r:id="rId16"/>
    <p:sldId id="423" r:id="rId17"/>
    <p:sldId id="421" r:id="rId18"/>
    <p:sldId id="422" r:id="rId19"/>
    <p:sldId id="425" r:id="rId20"/>
    <p:sldId id="434" r:id="rId21"/>
    <p:sldId id="433" r:id="rId22"/>
    <p:sldId id="426" r:id="rId23"/>
    <p:sldId id="435" r:id="rId24"/>
    <p:sldId id="290" r:id="rId25"/>
    <p:sldId id="427" r:id="rId2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C9BB"/>
    <a:srgbClr val="B6BCAE"/>
    <a:srgbClr val="DA8E6A"/>
    <a:srgbClr val="F9B08D"/>
    <a:srgbClr val="230E03"/>
    <a:srgbClr val="DBD8CF"/>
    <a:srgbClr val="ED4775"/>
    <a:srgbClr val="ED4774"/>
    <a:srgbClr val="FBE4E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1045" autoAdjust="0"/>
  </p:normalViewPr>
  <p:slideViewPr>
    <p:cSldViewPr snapToGrid="0">
      <p:cViewPr varScale="1">
        <p:scale>
          <a:sx n="94" d="100"/>
          <a:sy n="94" d="100"/>
        </p:scale>
        <p:origin x="1092" y="66"/>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18EF07C-512F-47B2-AA3D-17C795D43972}" type="datetimeFigureOut">
              <a:rPr lang="en-CA" smtClean="0"/>
              <a:t>2025-05-13</a:t>
            </a:fld>
            <a:endParaRPr lang="en-CA"/>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CA"/>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CA"/>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ED88329-6574-4B8D-AD7F-833F510A3A29}" type="slidenum">
              <a:rPr lang="en-CA" smtClean="0"/>
              <a:t>‹#›</a:t>
            </a:fld>
            <a:endParaRPr lang="en-CA"/>
          </a:p>
        </p:txBody>
      </p:sp>
    </p:spTree>
    <p:extLst>
      <p:ext uri="{BB962C8B-B14F-4D97-AF65-F5344CB8AC3E}">
        <p14:creationId xmlns:p14="http://schemas.microsoft.com/office/powerpoint/2010/main" val="2391417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D363-5339-6091-B869-FFBE8CE0B1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E747FFB-7363-ABAE-6A20-A28FFF01CE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6E62A04-CE21-E1C1-2800-9286A5FD2833}"/>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6FE4FB74-1879-85D8-8C96-E0E24096C6D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AF8B476-010C-6831-BB6A-C35714AE9024}"/>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1056353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A4D4-67D8-390B-FB6A-031329B4231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141D08-C352-8466-8A06-EC0A75BB08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C2033A-F82F-EA40-6145-7C527E44F795}"/>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935CEFE6-467E-5DC3-25C5-40B64B60599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4BEB19-5264-701A-E48B-DE7EB41344B9}"/>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416288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F9F9-E59D-69FC-9D37-C50FAE4672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3EF5673-84A8-389A-D3E4-73D3236165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8793B9-A7AA-DA17-17DC-B671C8B21486}"/>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FE6F7165-BBF8-0C22-E98C-A2A119FF4D8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81A034A-81AB-CEE1-F106-85B81E6DF891}"/>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3519633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C638-5C2A-0715-BE14-C0F2BFE03A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9549ED8-E463-D1B0-67F3-ADBBE88B19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A980105-3957-36E8-C07B-5013B21B91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BA2D71E-307A-8F59-C556-3DAB33D2BF33}"/>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6" name="Footer Placeholder 5">
            <a:extLst>
              <a:ext uri="{FF2B5EF4-FFF2-40B4-BE49-F238E27FC236}">
                <a16:creationId xmlns:a16="http://schemas.microsoft.com/office/drawing/2014/main" id="{8AB85447-FCFD-6CE4-F88E-D299830E66F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D5A598B-97FB-A848-65F4-7C9337DA1AD7}"/>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1109795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DD8C3-3EE7-8D07-37D3-2DBC833C620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654F0AA-111D-540F-E7CD-BDB25CF134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E32028-7FC1-AECE-0484-C5BDBD42F1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6A22267-9580-66AE-8138-49CF5BD71A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17CBFB-170E-6DCF-C5F8-FBC2B937D1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371DC64-604A-52BD-8455-BEA7614C0DE3}"/>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8" name="Footer Placeholder 7">
            <a:extLst>
              <a:ext uri="{FF2B5EF4-FFF2-40B4-BE49-F238E27FC236}">
                <a16:creationId xmlns:a16="http://schemas.microsoft.com/office/drawing/2014/main" id="{4DF40F13-94D4-306E-97AD-25E96744002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6DE6664-ABE1-4FF1-C128-8B18C3B30BFC}"/>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80990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7269F-73BE-7982-9482-010332D8E85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DD4F6F1-A9E3-EB51-129F-128E9D7B3C27}"/>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4" name="Footer Placeholder 3">
            <a:extLst>
              <a:ext uri="{FF2B5EF4-FFF2-40B4-BE49-F238E27FC236}">
                <a16:creationId xmlns:a16="http://schemas.microsoft.com/office/drawing/2014/main" id="{D772B95D-F1A2-E943-59BC-6CD139E9F7E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79CB746-CF47-2B5A-CEC3-EA8D23722762}"/>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4107883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155EAC-B0EE-327D-9B6E-1FE2C9EE1645}"/>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3" name="Footer Placeholder 2">
            <a:extLst>
              <a:ext uri="{FF2B5EF4-FFF2-40B4-BE49-F238E27FC236}">
                <a16:creationId xmlns:a16="http://schemas.microsoft.com/office/drawing/2014/main" id="{00027FB9-3E5B-CF5D-52A2-FB49930FC63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79828539-AB42-15CE-1544-C065D65CEDEF}"/>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4222029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F9996-3BF8-B9A1-9967-D6D5DA01A4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5641DC3-2346-774C-1342-8DB092E147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69C020B-F981-0619-61D9-0C8C329D4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F3A97-050B-FA06-4295-8685C0BB4558}"/>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6" name="Footer Placeholder 5">
            <a:extLst>
              <a:ext uri="{FF2B5EF4-FFF2-40B4-BE49-F238E27FC236}">
                <a16:creationId xmlns:a16="http://schemas.microsoft.com/office/drawing/2014/main" id="{774A60F3-2B30-44B1-E258-3A12D27386A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846039C-B691-70C9-2454-EDBB1D7AD7D3}"/>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3977955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E8C2-A25E-5410-E663-CC168CF61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EC7C11C-0707-6017-3722-155BFF9B1F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3FD79F-DE9D-3332-9FB2-2CA90ADBD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85E979-5881-EBB2-6FAF-EBED4204A0EE}"/>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6" name="Footer Placeholder 5">
            <a:extLst>
              <a:ext uri="{FF2B5EF4-FFF2-40B4-BE49-F238E27FC236}">
                <a16:creationId xmlns:a16="http://schemas.microsoft.com/office/drawing/2014/main" id="{6D0F23A2-6C05-410A-176C-96B58FB2477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5FBFEEE-F7B5-DE14-25F9-13DF3948126E}"/>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2926568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DDF4E-7D7F-DA1A-D1A9-4B4FCD518BA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7542D4C-B570-E481-365D-7111CB54DE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C37B1D3-D023-9D5F-6396-799FFE4DE667}"/>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40747450-22A1-DAE1-84BE-17D6BAC879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F06469D-1C1F-3EDD-E29F-9F303F63FAAE}"/>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3452839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127CE-44BE-ADEE-57DC-03B0D74C87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4EA14CB-6DAE-2EE4-750B-CBC0E560D9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27DB1B-B81E-7DB6-73F9-93233CB17428}"/>
              </a:ext>
            </a:extLst>
          </p:cNvPr>
          <p:cNvSpPr>
            <a:spLocks noGrp="1"/>
          </p:cNvSpPr>
          <p:nvPr>
            <p:ph type="dt" sz="half" idx="10"/>
          </p:nvPr>
        </p:nvSpPr>
        <p:spPr/>
        <p:txBody>
          <a:body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D6AC1F77-ECA3-BB78-C8A7-AEC3D156634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B14FEAA-1572-7231-7085-F8B11D1A1E8C}"/>
              </a:ext>
            </a:extLst>
          </p:cNvPr>
          <p:cNvSpPr>
            <a:spLocks noGrp="1"/>
          </p:cNvSpPr>
          <p:nvPr>
            <p:ph type="sldNum" sz="quarter" idx="12"/>
          </p:nvPr>
        </p:nvSpPr>
        <p:spPr/>
        <p:txBody>
          <a:bodyPr/>
          <a:lstStyle/>
          <a:p>
            <a:fld id="{7B440AA7-77E8-4AB0-ABFE-16BEB06571A0}" type="slidenum">
              <a:rPr lang="en-CA" smtClean="0"/>
              <a:t>‹#›</a:t>
            </a:fld>
            <a:endParaRPr lang="en-CA"/>
          </a:p>
        </p:txBody>
      </p:sp>
    </p:spTree>
    <p:extLst>
      <p:ext uri="{BB962C8B-B14F-4D97-AF65-F5344CB8AC3E}">
        <p14:creationId xmlns:p14="http://schemas.microsoft.com/office/powerpoint/2010/main" val="1048716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0BBE85-CA7A-6CB6-550F-E81A202BF1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8DF010F-2296-F2D7-A017-FF627E9FF9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2BA5506-1932-EBBB-987E-5BAA5E630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77DD-C69D-44F9-80E9-D8E458541C1B}" type="datetimeFigureOut">
              <a:rPr lang="en-CA" smtClean="0"/>
              <a:t>2025-05-13</a:t>
            </a:fld>
            <a:endParaRPr lang="en-CA"/>
          </a:p>
        </p:txBody>
      </p:sp>
      <p:sp>
        <p:nvSpPr>
          <p:cNvPr id="5" name="Footer Placeholder 4">
            <a:extLst>
              <a:ext uri="{FF2B5EF4-FFF2-40B4-BE49-F238E27FC236}">
                <a16:creationId xmlns:a16="http://schemas.microsoft.com/office/drawing/2014/main" id="{4589DF72-A422-C5A2-9346-7E0E5EA10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228BB20D-EA21-D6B4-BAD5-204799514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440AA7-77E8-4AB0-ABFE-16BEB06571A0}" type="slidenum">
              <a:rPr lang="en-CA" smtClean="0"/>
              <a:t>‹#›</a:t>
            </a:fld>
            <a:endParaRPr lang="en-CA"/>
          </a:p>
        </p:txBody>
      </p:sp>
    </p:spTree>
    <p:extLst>
      <p:ext uri="{BB962C8B-B14F-4D97-AF65-F5344CB8AC3E}">
        <p14:creationId xmlns:p14="http://schemas.microsoft.com/office/powerpoint/2010/main" val="152113663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4F3256E8-4ABA-5DE6-F091-2BAFCF151C0E}"/>
              </a:ext>
            </a:extLst>
          </p:cNvPr>
          <p:cNvGrpSpPr/>
          <p:nvPr/>
        </p:nvGrpSpPr>
        <p:grpSpPr>
          <a:xfrm>
            <a:off x="7628494" y="-5250"/>
            <a:ext cx="4571585" cy="6858000"/>
            <a:chOff x="-28261" y="0"/>
            <a:chExt cx="4571585" cy="6858000"/>
          </a:xfrm>
        </p:grpSpPr>
        <p:pic>
          <p:nvPicPr>
            <p:cNvPr id="34" name="Picture 33">
              <a:extLst>
                <a:ext uri="{FF2B5EF4-FFF2-40B4-BE49-F238E27FC236}">
                  <a16:creationId xmlns:a16="http://schemas.microsoft.com/office/drawing/2014/main" id="{2B220C86-582C-C962-EE46-E665D33FC2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1" y="0"/>
              <a:ext cx="1147665" cy="6858000"/>
            </a:xfrm>
            <a:prstGeom prst="rect">
              <a:avLst/>
            </a:prstGeom>
          </p:spPr>
        </p:pic>
        <p:pic>
          <p:nvPicPr>
            <p:cNvPr id="36" name="Picture 35">
              <a:extLst>
                <a:ext uri="{FF2B5EF4-FFF2-40B4-BE49-F238E27FC236}">
                  <a16:creationId xmlns:a16="http://schemas.microsoft.com/office/drawing/2014/main" id="{5CA0268E-9471-4324-4B85-637BCAB57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19" y="0"/>
              <a:ext cx="1147665" cy="6858000"/>
            </a:xfrm>
            <a:prstGeom prst="rect">
              <a:avLst/>
            </a:prstGeom>
          </p:spPr>
        </p:pic>
        <p:pic>
          <p:nvPicPr>
            <p:cNvPr id="37" name="Picture 36">
              <a:extLst>
                <a:ext uri="{FF2B5EF4-FFF2-40B4-BE49-F238E27FC236}">
                  <a16:creationId xmlns:a16="http://schemas.microsoft.com/office/drawing/2014/main" id="{CF94D800-9191-8BCD-F0B0-8DD880C10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7739" y="0"/>
              <a:ext cx="1147665" cy="6858000"/>
            </a:xfrm>
            <a:prstGeom prst="rect">
              <a:avLst/>
            </a:prstGeom>
          </p:spPr>
        </p:pic>
        <p:pic>
          <p:nvPicPr>
            <p:cNvPr id="38" name="Picture 37">
              <a:extLst>
                <a:ext uri="{FF2B5EF4-FFF2-40B4-BE49-F238E27FC236}">
                  <a16:creationId xmlns:a16="http://schemas.microsoft.com/office/drawing/2014/main" id="{6D5A438A-55DA-6829-14D7-22476FF36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659" y="0"/>
              <a:ext cx="1147665" cy="6858000"/>
            </a:xfrm>
            <a:prstGeom prst="rect">
              <a:avLst/>
            </a:prstGeom>
          </p:spPr>
        </p:pic>
      </p:grpSp>
      <p:grpSp>
        <p:nvGrpSpPr>
          <p:cNvPr id="31" name="Group 30">
            <a:extLst>
              <a:ext uri="{FF2B5EF4-FFF2-40B4-BE49-F238E27FC236}">
                <a16:creationId xmlns:a16="http://schemas.microsoft.com/office/drawing/2014/main" id="{99155B18-032E-C9E2-0A68-4791D1E6F038}"/>
              </a:ext>
            </a:extLst>
          </p:cNvPr>
          <p:cNvGrpSpPr/>
          <p:nvPr/>
        </p:nvGrpSpPr>
        <p:grpSpPr>
          <a:xfrm>
            <a:off x="-28261" y="0"/>
            <a:ext cx="4571585" cy="6858000"/>
            <a:chOff x="-28261" y="0"/>
            <a:chExt cx="4571585" cy="6858000"/>
          </a:xfrm>
        </p:grpSpPr>
        <p:pic>
          <p:nvPicPr>
            <p:cNvPr id="27" name="Picture 26">
              <a:extLst>
                <a:ext uri="{FF2B5EF4-FFF2-40B4-BE49-F238E27FC236}">
                  <a16:creationId xmlns:a16="http://schemas.microsoft.com/office/drawing/2014/main" id="{061EA8B1-30B4-179E-6541-806AF08AF0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1" y="0"/>
              <a:ext cx="1147665" cy="6858000"/>
            </a:xfrm>
            <a:prstGeom prst="rect">
              <a:avLst/>
            </a:prstGeom>
            <a:noFill/>
          </p:spPr>
        </p:pic>
        <p:pic>
          <p:nvPicPr>
            <p:cNvPr id="28" name="Picture 27">
              <a:extLst>
                <a:ext uri="{FF2B5EF4-FFF2-40B4-BE49-F238E27FC236}">
                  <a16:creationId xmlns:a16="http://schemas.microsoft.com/office/drawing/2014/main" id="{FA834815-C4C8-9578-9EB8-277DB02FF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19" y="0"/>
              <a:ext cx="1147665" cy="6858000"/>
            </a:xfrm>
            <a:prstGeom prst="rect">
              <a:avLst/>
            </a:prstGeom>
            <a:noFill/>
          </p:spPr>
        </p:pic>
        <p:pic>
          <p:nvPicPr>
            <p:cNvPr id="29" name="Picture 28">
              <a:extLst>
                <a:ext uri="{FF2B5EF4-FFF2-40B4-BE49-F238E27FC236}">
                  <a16:creationId xmlns:a16="http://schemas.microsoft.com/office/drawing/2014/main" id="{E22A0829-8093-D888-3CCD-30A307A61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7739" y="0"/>
              <a:ext cx="1147665" cy="6858000"/>
            </a:xfrm>
            <a:prstGeom prst="rect">
              <a:avLst/>
            </a:prstGeom>
            <a:noFill/>
          </p:spPr>
        </p:pic>
        <p:pic>
          <p:nvPicPr>
            <p:cNvPr id="30" name="Picture 29">
              <a:extLst>
                <a:ext uri="{FF2B5EF4-FFF2-40B4-BE49-F238E27FC236}">
                  <a16:creationId xmlns:a16="http://schemas.microsoft.com/office/drawing/2014/main" id="{0D58CEC0-A965-04FA-B06F-F185BA47D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659" y="0"/>
              <a:ext cx="1147665" cy="6858000"/>
            </a:xfrm>
            <a:prstGeom prst="rect">
              <a:avLst/>
            </a:prstGeom>
            <a:noFill/>
          </p:spPr>
        </p:pic>
      </p:grpSp>
      <p:pic>
        <p:nvPicPr>
          <p:cNvPr id="20" name="Picture 19">
            <a:extLst>
              <a:ext uri="{FF2B5EF4-FFF2-40B4-BE49-F238E27FC236}">
                <a16:creationId xmlns:a16="http://schemas.microsoft.com/office/drawing/2014/main" id="{8E7F02EA-118E-A830-0FC2-98691B64C65C}"/>
              </a:ext>
            </a:extLst>
          </p:cNvPr>
          <p:cNvPicPr>
            <a:picLocks noChangeAspect="1"/>
          </p:cNvPicPr>
          <p:nvPr/>
        </p:nvPicPr>
        <p:blipFill>
          <a:blip r:embed="rId3">
            <a:extLst>
              <a:ext uri="{28A0092B-C50C-407E-A947-70E740481C1C}">
                <a14:useLocalDpi xmlns:a14="http://schemas.microsoft.com/office/drawing/2010/main" val="0"/>
              </a:ext>
            </a:extLst>
          </a:blip>
          <a:srcRect t="110" r="8791" b="-110"/>
          <a:stretch/>
        </p:blipFill>
        <p:spPr>
          <a:xfrm>
            <a:off x="1833339" y="0"/>
            <a:ext cx="8691018" cy="6858000"/>
          </a:xfrm>
          <a:prstGeom prst="rect">
            <a:avLst/>
          </a:prstGeom>
        </p:spPr>
      </p:pic>
      <p:sp>
        <p:nvSpPr>
          <p:cNvPr id="10" name="TextBox 9">
            <a:extLst>
              <a:ext uri="{FF2B5EF4-FFF2-40B4-BE49-F238E27FC236}">
                <a16:creationId xmlns:a16="http://schemas.microsoft.com/office/drawing/2014/main" id="{283EA59C-5EFF-5E57-EF96-0922D7049934}"/>
              </a:ext>
            </a:extLst>
          </p:cNvPr>
          <p:cNvSpPr txBox="1"/>
          <p:nvPr/>
        </p:nvSpPr>
        <p:spPr>
          <a:xfrm>
            <a:off x="-14514" y="423528"/>
            <a:ext cx="10525124" cy="830997"/>
          </a:xfrm>
          <a:prstGeom prst="rect">
            <a:avLst/>
          </a:prstGeom>
          <a:noFill/>
        </p:spPr>
        <p:txBody>
          <a:bodyPr wrap="square">
            <a:spAutoFit/>
          </a:bodyPr>
          <a:lstStyle/>
          <a:p>
            <a:pPr algn="l"/>
            <a:r>
              <a:rPr lang="en-US" sz="4800" b="1" dirty="0">
                <a:solidFill>
                  <a:srgbClr val="ED4774"/>
                </a:solidFill>
              </a:rPr>
              <a:t>Breast Cancer </a:t>
            </a:r>
            <a:r>
              <a:rPr lang="en-US" sz="4800" b="1" dirty="0">
                <a:ln w="0">
                  <a:noFill/>
                </a:ln>
                <a:solidFill>
                  <a:srgbClr val="ED4774"/>
                </a:solidFill>
                <a:effectLst>
                  <a:outerShdw blurRad="38100" dist="19050" dir="2700000" algn="tl" rotWithShape="0">
                    <a:schemeClr val="dk1">
                      <a:alpha val="40000"/>
                    </a:schemeClr>
                  </a:outerShdw>
                </a:effectLst>
              </a:rPr>
              <a:t>Prediction</a:t>
            </a:r>
            <a:endParaRPr lang="en-US" sz="4800" b="1" dirty="0">
              <a:ln w="0">
                <a:noFill/>
              </a:ln>
              <a:solidFill>
                <a:srgbClr val="ED4774"/>
              </a:solidFill>
            </a:endParaRPr>
          </a:p>
        </p:txBody>
      </p:sp>
      <p:sp>
        <p:nvSpPr>
          <p:cNvPr id="12" name="TextBox 11">
            <a:extLst>
              <a:ext uri="{FF2B5EF4-FFF2-40B4-BE49-F238E27FC236}">
                <a16:creationId xmlns:a16="http://schemas.microsoft.com/office/drawing/2014/main" id="{0D6D673F-1138-1341-3D89-EE927CF6A31F}"/>
              </a:ext>
            </a:extLst>
          </p:cNvPr>
          <p:cNvSpPr txBox="1"/>
          <p:nvPr/>
        </p:nvSpPr>
        <p:spPr>
          <a:xfrm>
            <a:off x="-20320" y="6444554"/>
            <a:ext cx="2756292" cy="338554"/>
          </a:xfrm>
          <a:prstGeom prst="rect">
            <a:avLst/>
          </a:prstGeom>
          <a:noFill/>
        </p:spPr>
        <p:txBody>
          <a:bodyPr wrap="square">
            <a:spAutoFit/>
          </a:bodyPr>
          <a:lstStyle>
            <a:defPPr>
              <a:defRPr lang="en-US"/>
            </a:defPPr>
            <a:lvl1pPr>
              <a:defRPr sz="2400">
                <a:ln w="0">
                  <a:noFill/>
                </a:ln>
                <a:solidFill>
                  <a:srgbClr val="ED4774"/>
                </a:solidFill>
                <a:effectLst>
                  <a:outerShdw blurRad="38100" dist="19050" dir="2700000" algn="tl" rotWithShape="0">
                    <a:schemeClr val="dk1">
                      <a:alpha val="40000"/>
                    </a:schemeClr>
                  </a:outerShdw>
                </a:effectLst>
              </a:defRPr>
            </a:lvl1pPr>
          </a:lstStyle>
          <a:p>
            <a:r>
              <a:rPr lang="en-US" sz="1600" dirty="0"/>
              <a:t>Submitted on May 12, 2025</a:t>
            </a:r>
            <a:endParaRPr lang="en-CA" sz="1600" dirty="0"/>
          </a:p>
        </p:txBody>
      </p:sp>
      <p:sp>
        <p:nvSpPr>
          <p:cNvPr id="14" name="TextBox 13">
            <a:extLst>
              <a:ext uri="{FF2B5EF4-FFF2-40B4-BE49-F238E27FC236}">
                <a16:creationId xmlns:a16="http://schemas.microsoft.com/office/drawing/2014/main" id="{C8D4E1B5-922E-E1B0-7FF3-23F32A2EB1D9}"/>
              </a:ext>
            </a:extLst>
          </p:cNvPr>
          <p:cNvSpPr txBox="1"/>
          <p:nvPr/>
        </p:nvSpPr>
        <p:spPr>
          <a:xfrm>
            <a:off x="-23389" y="4820480"/>
            <a:ext cx="10538871" cy="1138773"/>
          </a:xfrm>
          <a:prstGeom prst="rect">
            <a:avLst/>
          </a:prstGeom>
          <a:noFill/>
        </p:spPr>
        <p:txBody>
          <a:bodyPr wrap="square">
            <a:spAutoFit/>
          </a:bodyPr>
          <a:lstStyle>
            <a:defPPr>
              <a:defRPr lang="en-US"/>
            </a:defPPr>
            <a:lvl1pPr>
              <a:defRPr sz="2400">
                <a:ln w="0">
                  <a:noFill/>
                </a:ln>
                <a:solidFill>
                  <a:srgbClr val="ED4774"/>
                </a:solidFill>
                <a:effectLst>
                  <a:outerShdw blurRad="38100" dist="19050" dir="2700000" algn="tl" rotWithShape="0">
                    <a:schemeClr val="dk1">
                      <a:alpha val="40000"/>
                    </a:schemeClr>
                  </a:outerShdw>
                </a:effectLst>
              </a:defRPr>
            </a:lvl1pPr>
          </a:lstStyle>
          <a:p>
            <a:r>
              <a:rPr lang="en-US" dirty="0"/>
              <a:t>Final project:</a:t>
            </a:r>
          </a:p>
          <a:p>
            <a:r>
              <a:rPr lang="en-US" dirty="0"/>
              <a:t>Cloud Computing &amp; Big Data Analytics Course </a:t>
            </a:r>
          </a:p>
          <a:p>
            <a:r>
              <a:rPr lang="en-US" sz="2000" dirty="0"/>
              <a:t>(Azure ML </a:t>
            </a:r>
            <a:r>
              <a:rPr lang="en-US" sz="2000" dirty="0" err="1"/>
              <a:t>Sudio</a:t>
            </a:r>
            <a:r>
              <a:rPr lang="en-US" sz="2000" dirty="0"/>
              <a:t>)</a:t>
            </a:r>
            <a:endParaRPr lang="en-CA" dirty="0"/>
          </a:p>
        </p:txBody>
      </p:sp>
      <p:sp>
        <p:nvSpPr>
          <p:cNvPr id="15" name="TextBox 14">
            <a:extLst>
              <a:ext uri="{FF2B5EF4-FFF2-40B4-BE49-F238E27FC236}">
                <a16:creationId xmlns:a16="http://schemas.microsoft.com/office/drawing/2014/main" id="{2D16949E-5B0C-B0F5-83F2-95CDD06ADAF7}"/>
              </a:ext>
            </a:extLst>
          </p:cNvPr>
          <p:cNvSpPr txBox="1"/>
          <p:nvPr/>
        </p:nvSpPr>
        <p:spPr>
          <a:xfrm>
            <a:off x="7640812" y="5894808"/>
            <a:ext cx="4510648" cy="523220"/>
          </a:xfrm>
          <a:prstGeom prst="rect">
            <a:avLst/>
          </a:prstGeom>
          <a:noFill/>
          <a:ln>
            <a:noFill/>
          </a:ln>
        </p:spPr>
        <p:txBody>
          <a:bodyPr wrap="square">
            <a:spAutoFit/>
          </a:bodyPr>
          <a:lstStyle/>
          <a:p>
            <a:pPr algn="r"/>
            <a:r>
              <a:rPr lang="en-US" sz="2800" dirty="0">
                <a:ln w="0">
                  <a:solidFill>
                    <a:srgbClr val="ED4775"/>
                  </a:solidFill>
                </a:ln>
                <a:solidFill>
                  <a:srgbClr val="ED4774"/>
                </a:solidFill>
                <a:effectLst>
                  <a:outerShdw blurRad="38100" dist="19050" dir="2700000" algn="tl" rotWithShape="0">
                    <a:schemeClr val="dk1">
                      <a:alpha val="40000"/>
                    </a:schemeClr>
                  </a:outerShdw>
                </a:effectLst>
              </a:rPr>
              <a:t>Metro College of Technology</a:t>
            </a:r>
            <a:endParaRPr lang="en-CA" sz="2800" dirty="0">
              <a:ln w="0">
                <a:solidFill>
                  <a:srgbClr val="ED4775"/>
                </a:solidFill>
              </a:ln>
              <a:solidFill>
                <a:srgbClr val="ED4774"/>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634E2CF2-F91F-A6C4-AE08-FB4D9A36C5C8}"/>
              </a:ext>
            </a:extLst>
          </p:cNvPr>
          <p:cNvSpPr txBox="1"/>
          <p:nvPr/>
        </p:nvSpPr>
        <p:spPr>
          <a:xfrm>
            <a:off x="-25441" y="5877633"/>
            <a:ext cx="4038166" cy="400110"/>
          </a:xfrm>
          <a:prstGeom prst="rect">
            <a:avLst/>
          </a:prstGeom>
          <a:noFill/>
        </p:spPr>
        <p:txBody>
          <a:bodyPr wrap="square">
            <a:spAutoFit/>
          </a:bodyPr>
          <a:lstStyle>
            <a:defPPr>
              <a:defRPr lang="en-US"/>
            </a:defPPr>
            <a:lvl1pPr>
              <a:defRPr sz="2400">
                <a:ln w="0">
                  <a:noFill/>
                </a:ln>
                <a:solidFill>
                  <a:srgbClr val="ED4774"/>
                </a:solidFill>
                <a:effectLst>
                  <a:outerShdw blurRad="38100" dist="19050" dir="2700000" algn="tl" rotWithShape="0">
                    <a:schemeClr val="dk1">
                      <a:alpha val="40000"/>
                    </a:schemeClr>
                  </a:outerShdw>
                </a:effectLst>
              </a:defRPr>
            </a:lvl1pPr>
          </a:lstStyle>
          <a:p>
            <a:r>
              <a:rPr lang="en-CA" sz="2000" dirty="0"/>
              <a:t>By Shirmila Hewapathirana</a:t>
            </a:r>
          </a:p>
        </p:txBody>
      </p:sp>
      <p:sp>
        <p:nvSpPr>
          <p:cNvPr id="18" name="TextBox 17">
            <a:extLst>
              <a:ext uri="{FF2B5EF4-FFF2-40B4-BE49-F238E27FC236}">
                <a16:creationId xmlns:a16="http://schemas.microsoft.com/office/drawing/2014/main" id="{0A8100DA-7636-5A06-6BC8-AA2B28E3057F}"/>
              </a:ext>
            </a:extLst>
          </p:cNvPr>
          <p:cNvSpPr txBox="1"/>
          <p:nvPr/>
        </p:nvSpPr>
        <p:spPr>
          <a:xfrm>
            <a:off x="21020" y="126961"/>
            <a:ext cx="6183744" cy="461665"/>
          </a:xfrm>
          <a:prstGeom prst="rect">
            <a:avLst/>
          </a:prstGeom>
          <a:noFill/>
        </p:spPr>
        <p:txBody>
          <a:bodyPr wrap="square">
            <a:spAutoFit/>
          </a:bodyPr>
          <a:lstStyle/>
          <a:p>
            <a:pPr algn="l"/>
            <a:r>
              <a:rPr lang="en-CA" sz="2400" dirty="0">
                <a:ln w="0">
                  <a:noFill/>
                </a:ln>
                <a:solidFill>
                  <a:srgbClr val="ED4774"/>
                </a:solidFill>
                <a:effectLst>
                  <a:outerShdw blurRad="38100" dist="19050" dir="2700000" algn="tl" rotWithShape="0">
                    <a:schemeClr val="dk1">
                      <a:alpha val="40000"/>
                    </a:schemeClr>
                  </a:outerShdw>
                </a:effectLst>
              </a:rPr>
              <a:t>Comprehensive Analysis of </a:t>
            </a:r>
          </a:p>
        </p:txBody>
      </p:sp>
      <p:sp>
        <p:nvSpPr>
          <p:cNvPr id="2" name="TextBox 1">
            <a:extLst>
              <a:ext uri="{FF2B5EF4-FFF2-40B4-BE49-F238E27FC236}">
                <a16:creationId xmlns:a16="http://schemas.microsoft.com/office/drawing/2014/main" id="{C5F4B165-7CEF-CD04-8083-9A496C5A3472}"/>
              </a:ext>
            </a:extLst>
          </p:cNvPr>
          <p:cNvSpPr txBox="1"/>
          <p:nvPr/>
        </p:nvSpPr>
        <p:spPr>
          <a:xfrm>
            <a:off x="-24674" y="6159348"/>
            <a:ext cx="4038166" cy="400110"/>
          </a:xfrm>
          <a:prstGeom prst="rect">
            <a:avLst/>
          </a:prstGeom>
          <a:noFill/>
        </p:spPr>
        <p:txBody>
          <a:bodyPr wrap="square">
            <a:spAutoFit/>
          </a:bodyPr>
          <a:lstStyle>
            <a:defPPr>
              <a:defRPr lang="en-US"/>
            </a:defPPr>
            <a:lvl1pPr>
              <a:defRPr sz="2400">
                <a:ln w="0">
                  <a:noFill/>
                </a:ln>
                <a:solidFill>
                  <a:srgbClr val="ED4774"/>
                </a:solidFill>
                <a:effectLst>
                  <a:outerShdw blurRad="38100" dist="19050" dir="2700000" algn="tl" rotWithShape="0">
                    <a:schemeClr val="dk1">
                      <a:alpha val="40000"/>
                    </a:schemeClr>
                  </a:outerShdw>
                </a:effectLst>
              </a:defRPr>
            </a:lvl1pPr>
          </a:lstStyle>
          <a:p>
            <a:r>
              <a:rPr lang="en-CA" sz="2000" dirty="0"/>
              <a:t>Professor: Ms. Mahnaz F Nia</a:t>
            </a:r>
          </a:p>
        </p:txBody>
      </p:sp>
      <p:sp>
        <p:nvSpPr>
          <p:cNvPr id="3" name="TextBox 2">
            <a:extLst>
              <a:ext uri="{FF2B5EF4-FFF2-40B4-BE49-F238E27FC236}">
                <a16:creationId xmlns:a16="http://schemas.microsoft.com/office/drawing/2014/main" id="{6B3E93D5-0878-79B0-822F-EDA36A0F235A}"/>
              </a:ext>
            </a:extLst>
          </p:cNvPr>
          <p:cNvSpPr txBox="1"/>
          <p:nvPr/>
        </p:nvSpPr>
        <p:spPr>
          <a:xfrm>
            <a:off x="7640812" y="6372969"/>
            <a:ext cx="4510648" cy="400110"/>
          </a:xfrm>
          <a:prstGeom prst="rect">
            <a:avLst/>
          </a:prstGeom>
          <a:noFill/>
          <a:ln>
            <a:noFill/>
          </a:ln>
        </p:spPr>
        <p:txBody>
          <a:bodyPr wrap="square">
            <a:spAutoFit/>
          </a:bodyPr>
          <a:lstStyle/>
          <a:p>
            <a:pPr algn="r"/>
            <a:r>
              <a:rPr lang="en-CA" sz="2000" b="1" dirty="0">
                <a:solidFill>
                  <a:srgbClr val="ED4774"/>
                </a:solidFill>
              </a:rPr>
              <a:t>Toronto </a:t>
            </a:r>
          </a:p>
        </p:txBody>
      </p:sp>
    </p:spTree>
    <p:extLst>
      <p:ext uri="{BB962C8B-B14F-4D97-AF65-F5344CB8AC3E}">
        <p14:creationId xmlns:p14="http://schemas.microsoft.com/office/powerpoint/2010/main" val="2278611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82B3E-31B0-A3EE-5B04-6513FBE62BE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69C2BC-3E69-BA4D-3FCA-AF0E66F4E157}"/>
              </a:ext>
            </a:extLst>
          </p:cNvPr>
          <p:cNvSpPr txBox="1"/>
          <p:nvPr/>
        </p:nvSpPr>
        <p:spPr>
          <a:xfrm>
            <a:off x="609600" y="1007595"/>
            <a:ext cx="10972800" cy="1477328"/>
          </a:xfrm>
          <a:prstGeom prst="rect">
            <a:avLst/>
          </a:prstGeom>
          <a:noFill/>
        </p:spPr>
        <p:txBody>
          <a:bodyPr wrap="square">
            <a:spAutoFit/>
          </a:bodyPr>
          <a:lstStyle/>
          <a:p>
            <a:r>
              <a:rPr lang="en-CA" b="1" dirty="0"/>
              <a:t>What causes Breast cancer?</a:t>
            </a:r>
          </a:p>
          <a:p>
            <a:endParaRPr lang="en-CA" dirty="0"/>
          </a:p>
          <a:p>
            <a:r>
              <a:rPr lang="en-CA" dirty="0"/>
              <a:t>Breast cancer is always caused by a genetic abnormality (a "mistake" in the genetic material).However, only 5-10% of cancers are due to an abnormality inherited from your mother or father. About 90% of breast cancers are due to genetic abnormalities that happen as a result of the aging process and the "wear and tear" of life in general.</a:t>
            </a:r>
          </a:p>
        </p:txBody>
      </p:sp>
      <p:sp>
        <p:nvSpPr>
          <p:cNvPr id="11" name="TextBox 10">
            <a:extLst>
              <a:ext uri="{FF2B5EF4-FFF2-40B4-BE49-F238E27FC236}">
                <a16:creationId xmlns:a16="http://schemas.microsoft.com/office/drawing/2014/main" id="{AB1690C5-153F-1AB3-96FF-BD8C14560EB4}"/>
              </a:ext>
            </a:extLst>
          </p:cNvPr>
          <p:cNvSpPr txBox="1"/>
          <p:nvPr/>
        </p:nvSpPr>
        <p:spPr>
          <a:xfrm>
            <a:off x="609600" y="2967335"/>
            <a:ext cx="10972800" cy="923330"/>
          </a:xfrm>
          <a:prstGeom prst="rect">
            <a:avLst/>
          </a:prstGeom>
          <a:noFill/>
        </p:spPr>
        <p:txBody>
          <a:bodyPr wrap="square">
            <a:spAutoFit/>
          </a:bodyPr>
          <a:lstStyle/>
          <a:p>
            <a:pPr>
              <a:buNone/>
            </a:pPr>
            <a:r>
              <a:rPr lang="en-US" dirty="0"/>
              <a:t>Breast cancer is one of the most common types of cancer, with rising cases reported worldwide in recent years. In healthcare discussions, breast cancer is a critical issue, partly due to factors such as modern lifestyle and genetic predisposition.</a:t>
            </a:r>
          </a:p>
        </p:txBody>
      </p:sp>
      <p:sp>
        <p:nvSpPr>
          <p:cNvPr id="3" name="TextBox 2">
            <a:extLst>
              <a:ext uri="{FF2B5EF4-FFF2-40B4-BE49-F238E27FC236}">
                <a16:creationId xmlns:a16="http://schemas.microsoft.com/office/drawing/2014/main" id="{4DC22F1F-C6F6-2776-7B17-F73A08559D11}"/>
              </a:ext>
            </a:extLst>
          </p:cNvPr>
          <p:cNvSpPr txBox="1"/>
          <p:nvPr/>
        </p:nvSpPr>
        <p:spPr>
          <a:xfrm>
            <a:off x="609600" y="4373077"/>
            <a:ext cx="10972800" cy="923330"/>
          </a:xfrm>
          <a:prstGeom prst="rect">
            <a:avLst/>
          </a:prstGeom>
          <a:noFill/>
        </p:spPr>
        <p:txBody>
          <a:bodyPr wrap="square">
            <a:spAutoFit/>
          </a:bodyPr>
          <a:lstStyle/>
          <a:p>
            <a:pPr>
              <a:buNone/>
            </a:pPr>
            <a:r>
              <a:rPr lang="en-US" dirty="0"/>
              <a:t>Although breast cancer can occur in both men and women, scientific studies indicate that women are approximately twice as susceptible to developing breast cancer. Early diagnosis plays a vital role in improving survival rates, as timely treatment can significantly enhance outcomes.</a:t>
            </a:r>
          </a:p>
        </p:txBody>
      </p:sp>
      <p:sp>
        <p:nvSpPr>
          <p:cNvPr id="6" name="Title 1">
            <a:extLst>
              <a:ext uri="{FF2B5EF4-FFF2-40B4-BE49-F238E27FC236}">
                <a16:creationId xmlns:a16="http://schemas.microsoft.com/office/drawing/2014/main" id="{BF32BF0D-E020-E04F-A61F-B7CB02AFC1A5}"/>
              </a:ext>
            </a:extLst>
          </p:cNvPr>
          <p:cNvSpPr txBox="1">
            <a:spLocks/>
          </p:cNvSpPr>
          <p:nvPr/>
        </p:nvSpPr>
        <p:spPr>
          <a:xfrm>
            <a:off x="0" y="20956"/>
            <a:ext cx="12192000" cy="772160"/>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Introduction</a:t>
            </a:r>
          </a:p>
        </p:txBody>
      </p:sp>
    </p:spTree>
    <p:extLst>
      <p:ext uri="{BB962C8B-B14F-4D97-AF65-F5344CB8AC3E}">
        <p14:creationId xmlns:p14="http://schemas.microsoft.com/office/powerpoint/2010/main" val="50792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2A6D1D8-0E44-8BAE-17F4-F02730A8F6DD}"/>
              </a:ext>
            </a:extLst>
          </p:cNvPr>
          <p:cNvSpPr txBox="1"/>
          <p:nvPr/>
        </p:nvSpPr>
        <p:spPr>
          <a:xfrm>
            <a:off x="281305" y="860841"/>
            <a:ext cx="11570970" cy="2308324"/>
          </a:xfrm>
          <a:prstGeom prst="rect">
            <a:avLst/>
          </a:prstGeom>
          <a:noFill/>
        </p:spPr>
        <p:txBody>
          <a:bodyPr wrap="square">
            <a:spAutoFit/>
          </a:bodyPr>
          <a:lstStyle/>
          <a:p>
            <a:r>
              <a:rPr lang="en-US" dirty="0">
                <a:effectLst/>
              </a:rPr>
              <a:t>The project leverages the BreastCancer.csv dataset, containing 569 records with 31 features including tumor radius, texture, perimeter, area, smoothness, and diagnosis labels (Malignant or Benign), to develop a classification machine learning model using Azure ML Studio. The model aims to accurately predict the diagnosis, enabling early detection of malignant cases to improve patient outcomes. Through data preprocessing, feature selection, and model training with algorithms such as Two-Class Logistic Regression, the solution demonstrates robust performance with a focus on precision and recall. Implementation in Azure ML Studio ensures scalability, integration with clinical workflows, and actionable insights for healthcare professionals, positioning this as a valuable tool for diagnostic support.</a:t>
            </a:r>
          </a:p>
          <a:p>
            <a:endParaRPr lang="en-US" dirty="0">
              <a:effectLst/>
            </a:endParaRPr>
          </a:p>
        </p:txBody>
      </p:sp>
      <p:sp>
        <p:nvSpPr>
          <p:cNvPr id="15" name="TextBox 14">
            <a:extLst>
              <a:ext uri="{FF2B5EF4-FFF2-40B4-BE49-F238E27FC236}">
                <a16:creationId xmlns:a16="http://schemas.microsoft.com/office/drawing/2014/main" id="{F4C7A3F1-5F45-1837-84C3-DE2D1E834FE2}"/>
              </a:ext>
            </a:extLst>
          </p:cNvPr>
          <p:cNvSpPr txBox="1"/>
          <p:nvPr/>
        </p:nvSpPr>
        <p:spPr>
          <a:xfrm>
            <a:off x="281305" y="3878379"/>
            <a:ext cx="11275060" cy="1200329"/>
          </a:xfrm>
          <a:prstGeom prst="rect">
            <a:avLst/>
          </a:prstGeom>
          <a:noFill/>
        </p:spPr>
        <p:txBody>
          <a:bodyPr wrap="square">
            <a:spAutoFit/>
          </a:bodyPr>
          <a:lstStyle/>
          <a:p>
            <a:pPr>
              <a:buNone/>
            </a:pPr>
            <a:r>
              <a:rPr lang="en-US" b="1" dirty="0"/>
              <a:t>Objective</a:t>
            </a:r>
          </a:p>
          <a:p>
            <a:r>
              <a:rPr lang="en-US" dirty="0">
                <a:effectLst/>
              </a:rPr>
              <a:t>To develop a machine learning classification model in Azure ML Studio that accurately predicts breast cancer diagnosis, categorizing tumors as </a:t>
            </a:r>
            <a:r>
              <a:rPr lang="en-US" b="1" dirty="0">
                <a:solidFill>
                  <a:srgbClr val="FF0000"/>
                </a:solidFill>
                <a:effectLst/>
              </a:rPr>
              <a:t>Malignant (M)</a:t>
            </a:r>
            <a:r>
              <a:rPr lang="en-US" dirty="0">
                <a:effectLst/>
              </a:rPr>
              <a:t> or Benign (B) based on key morphological and statistical features, thereby enhancing diagnostic accuracy and supporting timely medical interventions.</a:t>
            </a:r>
          </a:p>
        </p:txBody>
      </p:sp>
      <p:sp>
        <p:nvSpPr>
          <p:cNvPr id="17" name="Title 1">
            <a:extLst>
              <a:ext uri="{FF2B5EF4-FFF2-40B4-BE49-F238E27FC236}">
                <a16:creationId xmlns:a16="http://schemas.microsoft.com/office/drawing/2014/main" id="{1A9927EF-2705-0661-C390-62565AE622D4}"/>
              </a:ext>
            </a:extLst>
          </p:cNvPr>
          <p:cNvSpPr txBox="1">
            <a:spLocks/>
          </p:cNvSpPr>
          <p:nvPr/>
        </p:nvSpPr>
        <p:spPr>
          <a:xfrm>
            <a:off x="-330835" y="0"/>
            <a:ext cx="12192000" cy="772160"/>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Executive Summary</a:t>
            </a:r>
          </a:p>
        </p:txBody>
      </p:sp>
    </p:spTree>
    <p:extLst>
      <p:ext uri="{BB962C8B-B14F-4D97-AF65-F5344CB8AC3E}">
        <p14:creationId xmlns:p14="http://schemas.microsoft.com/office/powerpoint/2010/main" val="547990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603CD310-5486-18E8-A2A9-8D25E0FFBC29}"/>
              </a:ext>
            </a:extLst>
          </p:cNvPr>
          <p:cNvSpPr>
            <a:spLocks noGrp="1"/>
          </p:cNvSpPr>
          <p:nvPr>
            <p:ph type="sldNum" sz="quarter" idx="12"/>
          </p:nvPr>
        </p:nvSpPr>
        <p:spPr/>
        <p:txBody>
          <a:bodyPr/>
          <a:lstStyle/>
          <a:p>
            <a:fld id="{7B440AA7-77E8-4AB0-ABFE-16BEB06571A0}" type="slidenum">
              <a:rPr lang="en-CA" smtClean="0"/>
              <a:t>4</a:t>
            </a:fld>
            <a:endParaRPr lang="en-CA"/>
          </a:p>
        </p:txBody>
      </p:sp>
      <p:sp>
        <p:nvSpPr>
          <p:cNvPr id="5" name="TextBox 4">
            <a:extLst>
              <a:ext uri="{FF2B5EF4-FFF2-40B4-BE49-F238E27FC236}">
                <a16:creationId xmlns:a16="http://schemas.microsoft.com/office/drawing/2014/main" id="{DF36641B-4051-38AC-B470-D4DB448A95C6}"/>
              </a:ext>
            </a:extLst>
          </p:cNvPr>
          <p:cNvSpPr txBox="1"/>
          <p:nvPr/>
        </p:nvSpPr>
        <p:spPr>
          <a:xfrm>
            <a:off x="511355" y="5594603"/>
            <a:ext cx="10992387" cy="1154162"/>
          </a:xfrm>
          <a:prstGeom prst="rect">
            <a:avLst/>
          </a:prstGeom>
          <a:noFill/>
        </p:spPr>
        <p:txBody>
          <a:bodyPr wrap="square">
            <a:spAutoFit/>
          </a:bodyPr>
          <a:lstStyle/>
          <a:p>
            <a:pPr algn="l" fontAlgn="base">
              <a:spcAft>
                <a:spcPts val="900"/>
              </a:spcAft>
            </a:pPr>
            <a:r>
              <a:rPr lang="en-US" b="1" i="0" u="sng" dirty="0">
                <a:solidFill>
                  <a:srgbClr val="3C4043"/>
                </a:solidFill>
                <a:effectLst/>
                <a:latin typeface="inherit"/>
              </a:rPr>
              <a:t>Notes:</a:t>
            </a:r>
            <a:r>
              <a:rPr lang="en-US" b="1" i="0" dirty="0">
                <a:solidFill>
                  <a:srgbClr val="3C4043"/>
                </a:solidFill>
                <a:effectLst/>
                <a:latin typeface="inherit"/>
              </a:rPr>
              <a:t>                                                                                    </a:t>
            </a:r>
            <a:r>
              <a:rPr lang="en-US" i="0" dirty="0">
                <a:solidFill>
                  <a:srgbClr val="3C4043"/>
                </a:solidFill>
                <a:effectLst/>
                <a:latin typeface="inherit"/>
              </a:rPr>
              <a:t>(M: Malignant      B: Benign)</a:t>
            </a:r>
          </a:p>
          <a:p>
            <a:pPr algn="l" fontAlgn="base">
              <a:spcAft>
                <a:spcPts val="900"/>
              </a:spcAft>
            </a:pPr>
            <a:r>
              <a:rPr lang="en-US" b="1" i="0" dirty="0">
                <a:solidFill>
                  <a:srgbClr val="3C4043"/>
                </a:solidFill>
                <a:effectLst/>
                <a:latin typeface="inherit"/>
              </a:rPr>
              <a:t>File </a:t>
            </a:r>
            <a:r>
              <a:rPr lang="en-US" b="1" dirty="0">
                <a:solidFill>
                  <a:srgbClr val="3C4043"/>
                </a:solidFill>
                <a:latin typeface="inherit"/>
              </a:rPr>
              <a:t>t</a:t>
            </a:r>
            <a:r>
              <a:rPr lang="en-US" b="1" i="0" dirty="0">
                <a:solidFill>
                  <a:srgbClr val="3C4043"/>
                </a:solidFill>
                <a:effectLst/>
                <a:latin typeface="inherit"/>
              </a:rPr>
              <a:t>ype : csv      </a:t>
            </a:r>
            <a:r>
              <a:rPr lang="en-US" b="1" dirty="0">
                <a:solidFill>
                  <a:srgbClr val="3C4043"/>
                </a:solidFill>
                <a:latin typeface="inherit"/>
              </a:rPr>
              <a:t>Total records: 569       Total features: 31 (29 numerical, 2 categorical)    Target feature: ‘diagnosis’</a:t>
            </a:r>
          </a:p>
          <a:p>
            <a:pPr algn="l" fontAlgn="base">
              <a:spcAft>
                <a:spcPts val="900"/>
              </a:spcAft>
            </a:pPr>
            <a:r>
              <a:rPr lang="en-US" b="1" dirty="0">
                <a:solidFill>
                  <a:srgbClr val="3C4043"/>
                </a:solidFill>
                <a:latin typeface="inherit"/>
              </a:rPr>
              <a:t>No missing values found </a:t>
            </a:r>
            <a:endParaRPr lang="en-US" b="0" i="0" dirty="0">
              <a:solidFill>
                <a:srgbClr val="3C4043"/>
              </a:solidFill>
              <a:effectLst/>
              <a:latin typeface="inherit"/>
            </a:endParaRPr>
          </a:p>
        </p:txBody>
      </p:sp>
      <p:graphicFrame>
        <p:nvGraphicFramePr>
          <p:cNvPr id="2" name="Table 1">
            <a:extLst>
              <a:ext uri="{FF2B5EF4-FFF2-40B4-BE49-F238E27FC236}">
                <a16:creationId xmlns:a16="http://schemas.microsoft.com/office/drawing/2014/main" id="{A7D80383-630B-666A-37E6-9E8D6E41FA46}"/>
              </a:ext>
            </a:extLst>
          </p:cNvPr>
          <p:cNvGraphicFramePr>
            <a:graphicFrameLocks noGrp="1"/>
          </p:cNvGraphicFramePr>
          <p:nvPr>
            <p:extLst>
              <p:ext uri="{D42A27DB-BD31-4B8C-83A1-F6EECF244321}">
                <p14:modId xmlns:p14="http://schemas.microsoft.com/office/powerpoint/2010/main" val="654390200"/>
              </p:ext>
            </p:extLst>
          </p:nvPr>
        </p:nvGraphicFramePr>
        <p:xfrm>
          <a:off x="1550297" y="1004660"/>
          <a:ext cx="8650344" cy="4569856"/>
        </p:xfrm>
        <a:graphic>
          <a:graphicData uri="http://schemas.openxmlformats.org/drawingml/2006/table">
            <a:tbl>
              <a:tblPr/>
              <a:tblGrid>
                <a:gridCol w="309904">
                  <a:extLst>
                    <a:ext uri="{9D8B030D-6E8A-4147-A177-3AD203B41FA5}">
                      <a16:colId xmlns:a16="http://schemas.microsoft.com/office/drawing/2014/main" val="2697991621"/>
                    </a:ext>
                  </a:extLst>
                </a:gridCol>
                <a:gridCol w="2694811">
                  <a:extLst>
                    <a:ext uri="{9D8B030D-6E8A-4147-A177-3AD203B41FA5}">
                      <a16:colId xmlns:a16="http://schemas.microsoft.com/office/drawing/2014/main" val="3848023402"/>
                    </a:ext>
                  </a:extLst>
                </a:gridCol>
                <a:gridCol w="808444">
                  <a:extLst>
                    <a:ext uri="{9D8B030D-6E8A-4147-A177-3AD203B41FA5}">
                      <a16:colId xmlns:a16="http://schemas.microsoft.com/office/drawing/2014/main" val="677112063"/>
                    </a:ext>
                  </a:extLst>
                </a:gridCol>
                <a:gridCol w="309904">
                  <a:extLst>
                    <a:ext uri="{9D8B030D-6E8A-4147-A177-3AD203B41FA5}">
                      <a16:colId xmlns:a16="http://schemas.microsoft.com/office/drawing/2014/main" val="1732307134"/>
                    </a:ext>
                  </a:extLst>
                </a:gridCol>
                <a:gridCol w="2874464">
                  <a:extLst>
                    <a:ext uri="{9D8B030D-6E8A-4147-A177-3AD203B41FA5}">
                      <a16:colId xmlns:a16="http://schemas.microsoft.com/office/drawing/2014/main" val="4095735914"/>
                    </a:ext>
                  </a:extLst>
                </a:gridCol>
                <a:gridCol w="1652817">
                  <a:extLst>
                    <a:ext uri="{9D8B030D-6E8A-4147-A177-3AD203B41FA5}">
                      <a16:colId xmlns:a16="http://schemas.microsoft.com/office/drawing/2014/main" val="4168177274"/>
                    </a:ext>
                  </a:extLst>
                </a:gridCol>
              </a:tblGrid>
              <a:tr h="269762">
                <a:tc>
                  <a:txBody>
                    <a:bodyPr/>
                    <a:lstStyle/>
                    <a:p>
                      <a:pPr algn="ctr" fontAlgn="t"/>
                      <a:r>
                        <a:rPr lang="en-CA" sz="1500" b="0" i="0" u="none" strike="noStrike">
                          <a:solidFill>
                            <a:srgbClr val="000000"/>
                          </a:solidFill>
                          <a:effectLst/>
                          <a:latin typeface="Arial" panose="020B0604020202020204" pitchFamily="34" charset="0"/>
                        </a:rPr>
                        <a: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1" i="0" u="none" strike="noStrike">
                          <a:solidFill>
                            <a:srgbClr val="000000"/>
                          </a:solidFill>
                          <a:effectLst/>
                          <a:latin typeface="Arial" panose="020B0604020202020204" pitchFamily="34" charset="0"/>
                        </a:rPr>
                        <a:t>Variable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1" i="0" u="none" strike="noStrike">
                          <a:solidFill>
                            <a:srgbClr val="000000"/>
                          </a:solidFill>
                          <a:effectLst/>
                          <a:latin typeface="Arial" panose="020B0604020202020204" pitchFamily="34" charset="0"/>
                        </a:rPr>
                        <a:t>Type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1" i="0" u="none" strike="noStrike">
                          <a:solidFill>
                            <a:srgbClr val="000000"/>
                          </a:solidFill>
                          <a:effectLst/>
                          <a:latin typeface="Arial" panose="020B0604020202020204" pitchFamily="34" charset="0"/>
                        </a:rPr>
                        <a:t>Variable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1" i="0" u="none" strike="noStrike">
                          <a:solidFill>
                            <a:srgbClr val="000000"/>
                          </a:solidFill>
                          <a:effectLst/>
                          <a:latin typeface="Arial" panose="020B0604020202020204" pitchFamily="34" charset="0"/>
                        </a:rPr>
                        <a:t>Type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37479638"/>
                  </a:ext>
                </a:extLst>
              </a:tr>
              <a:tr h="269762">
                <a:tc>
                  <a:txBody>
                    <a:bodyPr/>
                    <a:lstStyle/>
                    <a:p>
                      <a:pPr algn="ctr" fontAlgn="t"/>
                      <a:r>
                        <a:rPr lang="en-CA" sz="1500" b="0" i="0" u="none" strike="noStrike">
                          <a:solidFill>
                            <a:srgbClr val="000000"/>
                          </a:solidFill>
                          <a:effectLst/>
                          <a:latin typeface="Arial" panose="020B0604020202020204" pitchFamily="34" charset="0"/>
                        </a:rPr>
                        <a:t>1</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id</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17</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compactness_se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66562952"/>
                  </a:ext>
                </a:extLst>
              </a:tr>
              <a:tr h="269762">
                <a:tc>
                  <a:txBody>
                    <a:bodyPr/>
                    <a:lstStyle/>
                    <a:p>
                      <a:pPr algn="ctr" fontAlgn="t"/>
                      <a:r>
                        <a:rPr lang="en-CA" sz="1500" b="0" i="0" u="none" strike="noStrike">
                          <a:solidFill>
                            <a:srgbClr val="000000"/>
                          </a:solidFill>
                          <a:effectLst/>
                          <a:latin typeface="Arial" panose="020B0604020202020204" pitchFamily="34" charset="0"/>
                        </a:rPr>
                        <a:t>2</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radius_mean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18</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concavity_se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69890264"/>
                  </a:ext>
                </a:extLst>
              </a:tr>
              <a:tr h="269762">
                <a:tc>
                  <a:txBody>
                    <a:bodyPr/>
                    <a:lstStyle/>
                    <a:p>
                      <a:pPr algn="ctr" fontAlgn="t"/>
                      <a:r>
                        <a:rPr lang="en-CA" sz="1500" b="0" i="0" u="none" strike="noStrike">
                          <a:solidFill>
                            <a:srgbClr val="000000"/>
                          </a:solidFill>
                          <a:effectLst/>
                          <a:latin typeface="Arial" panose="020B0604020202020204" pitchFamily="34" charset="0"/>
                        </a:rPr>
                        <a:t>3</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texture_mean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19</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concave_points_se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52701170"/>
                  </a:ext>
                </a:extLst>
              </a:tr>
              <a:tr h="269762">
                <a:tc>
                  <a:txBody>
                    <a:bodyPr/>
                    <a:lstStyle/>
                    <a:p>
                      <a:pPr algn="ctr" fontAlgn="t"/>
                      <a:r>
                        <a:rPr lang="en-CA" sz="1500" b="0" i="0" u="none" strike="noStrike">
                          <a:solidFill>
                            <a:srgbClr val="000000"/>
                          </a:solidFill>
                          <a:effectLst/>
                          <a:latin typeface="Arial" panose="020B0604020202020204" pitchFamily="34" charset="0"/>
                        </a:rPr>
                        <a:t>4</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perimeter_mean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20</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symmetry_se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34302076"/>
                  </a:ext>
                </a:extLst>
              </a:tr>
              <a:tr h="269762">
                <a:tc>
                  <a:txBody>
                    <a:bodyPr/>
                    <a:lstStyle/>
                    <a:p>
                      <a:pPr algn="ctr" fontAlgn="t"/>
                      <a:r>
                        <a:rPr lang="en-CA" sz="1500" b="0" i="0" u="none" strike="noStrike">
                          <a:solidFill>
                            <a:srgbClr val="000000"/>
                          </a:solidFill>
                          <a:effectLst/>
                          <a:latin typeface="Arial" panose="020B0604020202020204" pitchFamily="34" charset="0"/>
                        </a:rPr>
                        <a:t>5</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area_mean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21</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fractal_dimension_se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dirty="0">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65011146"/>
                  </a:ext>
                </a:extLst>
              </a:tr>
              <a:tr h="269762">
                <a:tc>
                  <a:txBody>
                    <a:bodyPr/>
                    <a:lstStyle/>
                    <a:p>
                      <a:pPr algn="ctr" fontAlgn="t"/>
                      <a:r>
                        <a:rPr lang="en-CA" sz="1500" b="0" i="0" u="none" strike="noStrike">
                          <a:solidFill>
                            <a:srgbClr val="000000"/>
                          </a:solidFill>
                          <a:effectLst/>
                          <a:latin typeface="Arial" panose="020B0604020202020204" pitchFamily="34" charset="0"/>
                        </a:rPr>
                        <a:t>6</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smoothness_mean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22</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radius_worst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40784737"/>
                  </a:ext>
                </a:extLst>
              </a:tr>
              <a:tr h="269762">
                <a:tc>
                  <a:txBody>
                    <a:bodyPr/>
                    <a:lstStyle/>
                    <a:p>
                      <a:pPr algn="ctr" fontAlgn="t"/>
                      <a:r>
                        <a:rPr lang="en-CA" sz="1500" b="0" i="0" u="none" strike="noStrike">
                          <a:solidFill>
                            <a:srgbClr val="000000"/>
                          </a:solidFill>
                          <a:effectLst/>
                          <a:latin typeface="Arial" panose="020B0604020202020204" pitchFamily="34" charset="0"/>
                        </a:rPr>
                        <a:t>7</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compactness_mean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23</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texture_worst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9368351"/>
                  </a:ext>
                </a:extLst>
              </a:tr>
              <a:tr h="269762">
                <a:tc>
                  <a:txBody>
                    <a:bodyPr/>
                    <a:lstStyle/>
                    <a:p>
                      <a:pPr algn="ctr" fontAlgn="t"/>
                      <a:r>
                        <a:rPr lang="en-CA" sz="1500" b="0" i="0" u="none" strike="noStrike">
                          <a:solidFill>
                            <a:srgbClr val="000000"/>
                          </a:solidFill>
                          <a:effectLst/>
                          <a:latin typeface="Arial" panose="020B0604020202020204" pitchFamily="34" charset="0"/>
                        </a:rPr>
                        <a:t>8</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concavity_mean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24</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perimeter_worst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27656829"/>
                  </a:ext>
                </a:extLst>
              </a:tr>
              <a:tr h="269762">
                <a:tc>
                  <a:txBody>
                    <a:bodyPr/>
                    <a:lstStyle/>
                    <a:p>
                      <a:pPr algn="ctr" fontAlgn="t"/>
                      <a:r>
                        <a:rPr lang="en-CA" sz="1500" b="0" i="0" u="none" strike="noStrike">
                          <a:solidFill>
                            <a:srgbClr val="000000"/>
                          </a:solidFill>
                          <a:effectLst/>
                          <a:latin typeface="Arial" panose="020B0604020202020204" pitchFamily="34" charset="0"/>
                        </a:rPr>
                        <a:t>9</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dirty="0" err="1">
                          <a:solidFill>
                            <a:srgbClr val="000000"/>
                          </a:solidFill>
                          <a:effectLst/>
                          <a:latin typeface="Arial" panose="020B0604020202020204" pitchFamily="34" charset="0"/>
                        </a:rPr>
                        <a:t>concave_points_mean</a:t>
                      </a:r>
                      <a:endParaRPr lang="en-CA" sz="1500" b="0" i="0" u="none" strike="noStrike" dirty="0">
                        <a:solidFill>
                          <a:srgbClr val="000000"/>
                        </a:solidFill>
                        <a:effectLst/>
                        <a:latin typeface="Arial" panose="020B0604020202020204" pitchFamily="34" charset="0"/>
                      </a:endParaRP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25</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area_worst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22976488"/>
                  </a:ext>
                </a:extLst>
              </a:tr>
              <a:tr h="269762">
                <a:tc>
                  <a:txBody>
                    <a:bodyPr/>
                    <a:lstStyle/>
                    <a:p>
                      <a:pPr algn="ctr" fontAlgn="t"/>
                      <a:r>
                        <a:rPr lang="en-CA" sz="1500" b="0" i="0" u="none" strike="noStrike">
                          <a:solidFill>
                            <a:srgbClr val="000000"/>
                          </a:solidFill>
                          <a:effectLst/>
                          <a:latin typeface="Arial" panose="020B0604020202020204" pitchFamily="34" charset="0"/>
                        </a:rPr>
                        <a:t>10</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symmetry_mean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26</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smoothness_worst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11053599"/>
                  </a:ext>
                </a:extLst>
              </a:tr>
              <a:tr h="269762">
                <a:tc>
                  <a:txBody>
                    <a:bodyPr/>
                    <a:lstStyle/>
                    <a:p>
                      <a:pPr algn="ctr" fontAlgn="t"/>
                      <a:r>
                        <a:rPr lang="en-CA" sz="1500" b="0" i="0" u="none" strike="noStrike">
                          <a:solidFill>
                            <a:srgbClr val="000000"/>
                          </a:solidFill>
                          <a:effectLst/>
                          <a:latin typeface="Arial" panose="020B0604020202020204" pitchFamily="34" charset="0"/>
                        </a:rPr>
                        <a:t>11</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fractal_dimension_mean</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27</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compactness_worst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67914205"/>
                  </a:ext>
                </a:extLst>
              </a:tr>
              <a:tr h="269762">
                <a:tc>
                  <a:txBody>
                    <a:bodyPr/>
                    <a:lstStyle/>
                    <a:p>
                      <a:pPr algn="ctr" fontAlgn="t"/>
                      <a:r>
                        <a:rPr lang="en-CA" sz="1500" b="0" i="0" u="none" strike="noStrike">
                          <a:solidFill>
                            <a:srgbClr val="000000"/>
                          </a:solidFill>
                          <a:effectLst/>
                          <a:latin typeface="Arial" panose="020B0604020202020204" pitchFamily="34" charset="0"/>
                        </a:rPr>
                        <a:t>12</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radius_se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28</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concavity_worst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27468931"/>
                  </a:ext>
                </a:extLst>
              </a:tr>
              <a:tr h="269762">
                <a:tc>
                  <a:txBody>
                    <a:bodyPr/>
                    <a:lstStyle/>
                    <a:p>
                      <a:pPr algn="ctr" fontAlgn="t"/>
                      <a:r>
                        <a:rPr lang="en-CA" sz="1500" b="0" i="0" u="none" strike="noStrike">
                          <a:solidFill>
                            <a:srgbClr val="000000"/>
                          </a:solidFill>
                          <a:effectLst/>
                          <a:latin typeface="Arial" panose="020B0604020202020204" pitchFamily="34" charset="0"/>
                        </a:rPr>
                        <a:t>13</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texture_se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29</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concave_points_worst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36695785"/>
                  </a:ext>
                </a:extLst>
              </a:tr>
              <a:tr h="269762">
                <a:tc>
                  <a:txBody>
                    <a:bodyPr/>
                    <a:lstStyle/>
                    <a:p>
                      <a:pPr algn="ctr" fontAlgn="t"/>
                      <a:r>
                        <a:rPr lang="en-CA" sz="1500" b="0" i="0" u="none" strike="noStrike">
                          <a:solidFill>
                            <a:srgbClr val="000000"/>
                          </a:solidFill>
                          <a:effectLst/>
                          <a:latin typeface="Arial" panose="020B0604020202020204" pitchFamily="34" charset="0"/>
                        </a:rPr>
                        <a:t>14</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perimeter_se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30</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symmetry_worst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83631985"/>
                  </a:ext>
                </a:extLst>
              </a:tr>
              <a:tr h="269762">
                <a:tc>
                  <a:txBody>
                    <a:bodyPr/>
                    <a:lstStyle/>
                    <a:p>
                      <a:pPr algn="ctr" fontAlgn="t"/>
                      <a:r>
                        <a:rPr lang="en-CA" sz="1500" b="0" i="0" u="none" strike="noStrike">
                          <a:solidFill>
                            <a:srgbClr val="000000"/>
                          </a:solidFill>
                          <a:effectLst/>
                          <a:latin typeface="Arial" panose="020B0604020202020204" pitchFamily="34" charset="0"/>
                        </a:rPr>
                        <a:t>15</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area_se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31</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fractal_dimension_worst</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221597657"/>
                  </a:ext>
                </a:extLst>
              </a:tr>
              <a:tr h="253664">
                <a:tc>
                  <a:txBody>
                    <a:bodyPr/>
                    <a:lstStyle/>
                    <a:p>
                      <a:pPr algn="ctr" fontAlgn="t"/>
                      <a:r>
                        <a:rPr lang="en-CA" sz="1500" b="0" i="0" u="none" strike="noStrike">
                          <a:solidFill>
                            <a:srgbClr val="000000"/>
                          </a:solidFill>
                          <a:effectLst/>
                          <a:latin typeface="Arial" panose="020B0604020202020204" pitchFamily="34" charset="0"/>
                        </a:rPr>
                        <a:t>16</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t"/>
                      <a:r>
                        <a:rPr lang="en-CA" sz="1500" b="0" i="0" u="none" strike="noStrike">
                          <a:solidFill>
                            <a:srgbClr val="000000"/>
                          </a:solidFill>
                          <a:effectLst/>
                          <a:latin typeface="Arial" panose="020B0604020202020204" pitchFamily="34" charset="0"/>
                        </a:rPr>
                        <a:t>smoothness_se</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Num</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t"/>
                      <a:r>
                        <a:rPr lang="en-CA" sz="1500" b="0" i="0" u="none" strike="noStrike">
                          <a:solidFill>
                            <a:srgbClr val="000000"/>
                          </a:solidFill>
                          <a:effectLst/>
                          <a:latin typeface="Arial" panose="020B0604020202020204" pitchFamily="34" charset="0"/>
                        </a:rPr>
                        <a:t>32</a:t>
                      </a:r>
                    </a:p>
                  </a:txBody>
                  <a:tcPr marL="13488" marR="13488" marT="13488" marB="0">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r>
                        <a:rPr lang="en-CA" sz="1500" b="1" i="0" u="none" strike="noStrike" dirty="0">
                          <a:solidFill>
                            <a:srgbClr val="000000"/>
                          </a:solidFill>
                          <a:effectLst/>
                          <a:latin typeface="Arial" panose="020B0604020202020204" pitchFamily="34" charset="0"/>
                        </a:rPr>
                        <a:t>Diagnosis (M/B) *</a:t>
                      </a:r>
                    </a:p>
                  </a:txBody>
                  <a:tcPr marL="13488" marR="13488" marT="13488" marB="0">
                    <a:lnL w="6350" cap="flat" cmpd="sng" algn="ctr">
                      <a:solidFill>
                        <a:srgbClr val="FF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ctr" fontAlgn="t"/>
                      <a:r>
                        <a:rPr lang="en-CA" sz="1500" b="1" i="0" u="none" strike="noStrike" dirty="0">
                          <a:solidFill>
                            <a:srgbClr val="000000"/>
                          </a:solidFill>
                          <a:effectLst/>
                          <a:latin typeface="Arial" panose="020B0604020202020204" pitchFamily="34" charset="0"/>
                        </a:rPr>
                        <a:t>Char</a:t>
                      </a:r>
                    </a:p>
                  </a:txBody>
                  <a:tcPr marL="13488" marR="13488" marT="13488" marB="0">
                    <a:lnL w="6350" cap="flat" cmpd="sng" algn="ctr">
                      <a:solidFill>
                        <a:srgbClr val="000000"/>
                      </a:solidFill>
                      <a:prstDash val="dot"/>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725772399"/>
                  </a:ext>
                </a:extLst>
              </a:tr>
            </a:tbl>
          </a:graphicData>
        </a:graphic>
      </p:graphicFrame>
      <p:sp>
        <p:nvSpPr>
          <p:cNvPr id="9" name="Title 1">
            <a:extLst>
              <a:ext uri="{FF2B5EF4-FFF2-40B4-BE49-F238E27FC236}">
                <a16:creationId xmlns:a16="http://schemas.microsoft.com/office/drawing/2014/main" id="{A02C19CF-2D04-B611-88DE-FCBBAF1C7A13}"/>
              </a:ext>
            </a:extLst>
          </p:cNvPr>
          <p:cNvSpPr txBox="1">
            <a:spLocks/>
          </p:cNvSpPr>
          <p:nvPr/>
        </p:nvSpPr>
        <p:spPr>
          <a:xfrm>
            <a:off x="-88452" y="0"/>
            <a:ext cx="12192000" cy="772160"/>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Summary of Dataset</a:t>
            </a:r>
          </a:p>
        </p:txBody>
      </p:sp>
    </p:spTree>
    <p:extLst>
      <p:ext uri="{BB962C8B-B14F-4D97-AF65-F5344CB8AC3E}">
        <p14:creationId xmlns:p14="http://schemas.microsoft.com/office/powerpoint/2010/main" val="3403176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12DBB-6F60-DD99-7296-86DFA503599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76828AC-23F6-BA7D-9BB4-4903CB7D58DF}"/>
              </a:ext>
            </a:extLst>
          </p:cNvPr>
          <p:cNvPicPr>
            <a:picLocks noChangeAspect="1"/>
          </p:cNvPicPr>
          <p:nvPr/>
        </p:nvPicPr>
        <p:blipFill>
          <a:blip r:embed="rId2"/>
          <a:stretch>
            <a:fillRect/>
          </a:stretch>
        </p:blipFill>
        <p:spPr>
          <a:xfrm>
            <a:off x="955040" y="495200"/>
            <a:ext cx="10281920" cy="6226274"/>
          </a:xfrm>
          <a:prstGeom prst="rect">
            <a:avLst/>
          </a:prstGeom>
        </p:spPr>
      </p:pic>
      <p:sp>
        <p:nvSpPr>
          <p:cNvPr id="16" name="Slide Number Placeholder 15">
            <a:extLst>
              <a:ext uri="{FF2B5EF4-FFF2-40B4-BE49-F238E27FC236}">
                <a16:creationId xmlns:a16="http://schemas.microsoft.com/office/drawing/2014/main" id="{A358B29E-8DEA-6576-EE93-3EE3D91D1021}"/>
              </a:ext>
            </a:extLst>
          </p:cNvPr>
          <p:cNvSpPr>
            <a:spLocks noGrp="1"/>
          </p:cNvSpPr>
          <p:nvPr>
            <p:ph type="sldNum" sz="quarter" idx="12"/>
          </p:nvPr>
        </p:nvSpPr>
        <p:spPr/>
        <p:txBody>
          <a:bodyPr/>
          <a:lstStyle/>
          <a:p>
            <a:fld id="{7B440AA7-77E8-4AB0-ABFE-16BEB06571A0}" type="slidenum">
              <a:rPr lang="en-CA" smtClean="0"/>
              <a:t>5</a:t>
            </a:fld>
            <a:endParaRPr lang="en-CA"/>
          </a:p>
        </p:txBody>
      </p:sp>
      <p:sp>
        <p:nvSpPr>
          <p:cNvPr id="14" name="Title 1">
            <a:extLst>
              <a:ext uri="{FF2B5EF4-FFF2-40B4-BE49-F238E27FC236}">
                <a16:creationId xmlns:a16="http://schemas.microsoft.com/office/drawing/2014/main" id="{BBC2E6C3-1890-99BF-7D11-0C3C9C68D5D3}"/>
              </a:ext>
            </a:extLst>
          </p:cNvPr>
          <p:cNvSpPr txBox="1">
            <a:spLocks/>
          </p:cNvSpPr>
          <p:nvPr/>
        </p:nvSpPr>
        <p:spPr>
          <a:xfrm>
            <a:off x="0" y="20956"/>
            <a:ext cx="12192000" cy="772160"/>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Preview of Dataset</a:t>
            </a:r>
          </a:p>
        </p:txBody>
      </p:sp>
    </p:spTree>
    <p:extLst>
      <p:ext uri="{BB962C8B-B14F-4D97-AF65-F5344CB8AC3E}">
        <p14:creationId xmlns:p14="http://schemas.microsoft.com/office/powerpoint/2010/main" val="153741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DD447-90C7-7ADD-C766-877ABF26516B}"/>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FA44F895-50EE-282E-C394-2F6B908CEA19}"/>
              </a:ext>
            </a:extLst>
          </p:cNvPr>
          <p:cNvSpPr>
            <a:spLocks noGrp="1"/>
          </p:cNvSpPr>
          <p:nvPr>
            <p:ph type="sldNum" sz="quarter" idx="12"/>
          </p:nvPr>
        </p:nvSpPr>
        <p:spPr/>
        <p:txBody>
          <a:bodyPr/>
          <a:lstStyle/>
          <a:p>
            <a:fld id="{7B440AA7-77E8-4AB0-ABFE-16BEB06571A0}" type="slidenum">
              <a:rPr lang="en-CA" smtClean="0"/>
              <a:t>6</a:t>
            </a:fld>
            <a:endParaRPr lang="en-CA"/>
          </a:p>
        </p:txBody>
      </p:sp>
      <p:sp>
        <p:nvSpPr>
          <p:cNvPr id="7" name="Title 1">
            <a:extLst>
              <a:ext uri="{FF2B5EF4-FFF2-40B4-BE49-F238E27FC236}">
                <a16:creationId xmlns:a16="http://schemas.microsoft.com/office/drawing/2014/main" id="{19D0585D-A4F4-2FCF-939D-8E80418DCEBA}"/>
              </a:ext>
            </a:extLst>
          </p:cNvPr>
          <p:cNvSpPr txBox="1">
            <a:spLocks/>
          </p:cNvSpPr>
          <p:nvPr/>
        </p:nvSpPr>
        <p:spPr>
          <a:xfrm>
            <a:off x="133350" y="136526"/>
            <a:ext cx="11915775" cy="596900"/>
          </a:xfrm>
          <a:prstGeom prst="rect">
            <a:avLst/>
          </a:prstGeom>
          <a:solidFill>
            <a:srgbClr val="01214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600" b="1" dirty="0">
                <a:solidFill>
                  <a:schemeClr val="bg1"/>
                </a:solidFill>
              </a:rPr>
              <a:t>Target Feature : ‘diagnosis’</a:t>
            </a:r>
          </a:p>
        </p:txBody>
      </p:sp>
      <p:pic>
        <p:nvPicPr>
          <p:cNvPr id="10" name="Picture 9">
            <a:extLst>
              <a:ext uri="{FF2B5EF4-FFF2-40B4-BE49-F238E27FC236}">
                <a16:creationId xmlns:a16="http://schemas.microsoft.com/office/drawing/2014/main" id="{D2EDD476-2C1B-79C8-240C-4E7FB649E8B3}"/>
              </a:ext>
            </a:extLst>
          </p:cNvPr>
          <p:cNvPicPr>
            <a:picLocks noChangeAspect="1"/>
          </p:cNvPicPr>
          <p:nvPr/>
        </p:nvPicPr>
        <p:blipFill>
          <a:blip r:embed="rId2"/>
          <a:stretch>
            <a:fillRect/>
          </a:stretch>
        </p:blipFill>
        <p:spPr>
          <a:xfrm>
            <a:off x="803910" y="1162103"/>
            <a:ext cx="4353533" cy="3667637"/>
          </a:xfrm>
          <a:prstGeom prst="rect">
            <a:avLst/>
          </a:prstGeom>
        </p:spPr>
      </p:pic>
      <p:graphicFrame>
        <p:nvGraphicFramePr>
          <p:cNvPr id="11" name="Table 10">
            <a:extLst>
              <a:ext uri="{FF2B5EF4-FFF2-40B4-BE49-F238E27FC236}">
                <a16:creationId xmlns:a16="http://schemas.microsoft.com/office/drawing/2014/main" id="{4C5B0AE4-A8C9-7E6C-FE1C-5134F01F8D83}"/>
              </a:ext>
            </a:extLst>
          </p:cNvPr>
          <p:cNvGraphicFramePr>
            <a:graphicFrameLocks noGrp="1"/>
          </p:cNvGraphicFramePr>
          <p:nvPr/>
        </p:nvGraphicFramePr>
        <p:xfrm>
          <a:off x="6217949" y="1662421"/>
          <a:ext cx="2628900" cy="2667000"/>
        </p:xfrm>
        <a:graphic>
          <a:graphicData uri="http://schemas.openxmlformats.org/drawingml/2006/table">
            <a:tbl>
              <a:tblPr/>
              <a:tblGrid>
                <a:gridCol w="2019300">
                  <a:extLst>
                    <a:ext uri="{9D8B030D-6E8A-4147-A177-3AD203B41FA5}">
                      <a16:colId xmlns:a16="http://schemas.microsoft.com/office/drawing/2014/main" val="4133675873"/>
                    </a:ext>
                  </a:extLst>
                </a:gridCol>
                <a:gridCol w="609600">
                  <a:extLst>
                    <a:ext uri="{9D8B030D-6E8A-4147-A177-3AD203B41FA5}">
                      <a16:colId xmlns:a16="http://schemas.microsoft.com/office/drawing/2014/main" val="730556750"/>
                    </a:ext>
                  </a:extLst>
                </a:gridCol>
              </a:tblGrid>
              <a:tr h="333375">
                <a:tc>
                  <a:txBody>
                    <a:bodyPr/>
                    <a:lstStyle/>
                    <a:p>
                      <a:pPr algn="l" rtl="0" fontAlgn="t"/>
                      <a:r>
                        <a:rPr lang="en-CA" sz="1800" b="0" i="0" u="none" strike="noStrike">
                          <a:solidFill>
                            <a:srgbClr val="002060"/>
                          </a:solidFill>
                          <a:effectLst/>
                          <a:latin typeface="Segoe UI" panose="020B0502040204020203" pitchFamily="34" charset="0"/>
                        </a:rPr>
                        <a:t>Most common </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B</a:t>
                      </a:r>
                    </a:p>
                  </a:txBody>
                  <a:tcPr marL="9525" marR="9525" marT="9525" marB="0">
                    <a:lnL>
                      <a:noFill/>
                    </a:lnL>
                    <a:lnR>
                      <a:noFill/>
                    </a:lnR>
                    <a:lnT>
                      <a:noFill/>
                    </a:lnT>
                    <a:lnB>
                      <a:noFill/>
                    </a:lnB>
                    <a:noFill/>
                  </a:tcPr>
                </a:tc>
                <a:extLst>
                  <a:ext uri="{0D108BD9-81ED-4DB2-BD59-A6C34878D82A}">
                    <a16:rowId xmlns:a16="http://schemas.microsoft.com/office/drawing/2014/main" val="1068367297"/>
                  </a:ext>
                </a:extLst>
              </a:tr>
              <a:tr h="333375">
                <a:tc>
                  <a:txBody>
                    <a:bodyPr/>
                    <a:lstStyle/>
                    <a:p>
                      <a:pPr algn="l" rtl="0" fontAlgn="t"/>
                      <a:r>
                        <a:rPr lang="en-CA" sz="1800" b="0" i="0" u="none" strike="noStrike">
                          <a:solidFill>
                            <a:srgbClr val="002060"/>
                          </a:solidFill>
                          <a:effectLst/>
                          <a:latin typeface="Segoe UI" panose="020B0502040204020203" pitchFamily="34" charset="0"/>
                        </a:rPr>
                        <a:t># Most common</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357</a:t>
                      </a:r>
                    </a:p>
                  </a:txBody>
                  <a:tcPr marL="9525" marR="9525" marT="9525" marB="0">
                    <a:lnL>
                      <a:noFill/>
                    </a:lnL>
                    <a:lnR>
                      <a:noFill/>
                    </a:lnR>
                    <a:lnT>
                      <a:noFill/>
                    </a:lnT>
                    <a:lnB>
                      <a:noFill/>
                    </a:lnB>
                    <a:noFill/>
                  </a:tcPr>
                </a:tc>
                <a:extLst>
                  <a:ext uri="{0D108BD9-81ED-4DB2-BD59-A6C34878D82A}">
                    <a16:rowId xmlns:a16="http://schemas.microsoft.com/office/drawing/2014/main" val="1515146752"/>
                  </a:ext>
                </a:extLst>
              </a:tr>
              <a:tr h="333375">
                <a:tc>
                  <a:txBody>
                    <a:bodyPr/>
                    <a:lstStyle/>
                    <a:p>
                      <a:pPr algn="l" rtl="0" fontAlgn="t"/>
                      <a:r>
                        <a:rPr lang="en-CA" sz="1800" b="0" i="0" u="none" strike="noStrike" dirty="0">
                          <a:solidFill>
                            <a:srgbClr val="002060"/>
                          </a:solidFill>
                          <a:effectLst/>
                          <a:latin typeface="Segoe UI" panose="020B0502040204020203" pitchFamily="34" charset="0"/>
                        </a:rPr>
                        <a:t># Unique values</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2</a:t>
                      </a:r>
                    </a:p>
                  </a:txBody>
                  <a:tcPr marL="9525" marR="9525" marT="9525" marB="0">
                    <a:lnL>
                      <a:noFill/>
                    </a:lnL>
                    <a:lnR>
                      <a:noFill/>
                    </a:lnR>
                    <a:lnT>
                      <a:noFill/>
                    </a:lnT>
                    <a:lnB>
                      <a:noFill/>
                    </a:lnB>
                    <a:noFill/>
                  </a:tcPr>
                </a:tc>
                <a:extLst>
                  <a:ext uri="{0D108BD9-81ED-4DB2-BD59-A6C34878D82A}">
                    <a16:rowId xmlns:a16="http://schemas.microsoft.com/office/drawing/2014/main" val="3615687831"/>
                  </a:ext>
                </a:extLst>
              </a:tr>
              <a:tr h="333375">
                <a:tc>
                  <a:txBody>
                    <a:bodyPr/>
                    <a:lstStyle/>
                    <a:p>
                      <a:pPr algn="l" rtl="0" fontAlgn="t"/>
                      <a:r>
                        <a:rPr lang="en-CA" sz="1800" b="0" i="0" u="none" strike="noStrike">
                          <a:solidFill>
                            <a:srgbClr val="002060"/>
                          </a:solidFill>
                          <a:effectLst/>
                          <a:latin typeface="Segoe UI" panose="020B0502040204020203" pitchFamily="34" charset="0"/>
                        </a:rPr>
                        <a:t>Total count</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569</a:t>
                      </a:r>
                    </a:p>
                  </a:txBody>
                  <a:tcPr marL="9525" marR="9525" marT="9525" marB="0">
                    <a:lnL>
                      <a:noFill/>
                    </a:lnL>
                    <a:lnR>
                      <a:noFill/>
                    </a:lnR>
                    <a:lnT>
                      <a:noFill/>
                    </a:lnT>
                    <a:lnB>
                      <a:noFill/>
                    </a:lnB>
                    <a:noFill/>
                  </a:tcPr>
                </a:tc>
                <a:extLst>
                  <a:ext uri="{0D108BD9-81ED-4DB2-BD59-A6C34878D82A}">
                    <a16:rowId xmlns:a16="http://schemas.microsoft.com/office/drawing/2014/main" val="4064589824"/>
                  </a:ext>
                </a:extLst>
              </a:tr>
              <a:tr h="333375">
                <a:tc>
                  <a:txBody>
                    <a:bodyPr/>
                    <a:lstStyle/>
                    <a:p>
                      <a:pPr algn="l" rtl="0" fontAlgn="t"/>
                      <a:r>
                        <a:rPr lang="en-CA" sz="1800" b="0" i="0" u="none" strike="noStrike">
                          <a:solidFill>
                            <a:srgbClr val="002060"/>
                          </a:solidFill>
                          <a:effectLst/>
                          <a:latin typeface="Segoe UI" panose="020B0502040204020203" pitchFamily="34" charset="0"/>
                        </a:rPr>
                        <a:t>Not missing count</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569</a:t>
                      </a:r>
                    </a:p>
                  </a:txBody>
                  <a:tcPr marL="9525" marR="9525" marT="9525" marB="0">
                    <a:lnL>
                      <a:noFill/>
                    </a:lnL>
                    <a:lnR>
                      <a:noFill/>
                    </a:lnR>
                    <a:lnT>
                      <a:noFill/>
                    </a:lnT>
                    <a:lnB>
                      <a:noFill/>
                    </a:lnB>
                    <a:noFill/>
                  </a:tcPr>
                </a:tc>
                <a:extLst>
                  <a:ext uri="{0D108BD9-81ED-4DB2-BD59-A6C34878D82A}">
                    <a16:rowId xmlns:a16="http://schemas.microsoft.com/office/drawing/2014/main" val="84562124"/>
                  </a:ext>
                </a:extLst>
              </a:tr>
              <a:tr h="333375">
                <a:tc>
                  <a:txBody>
                    <a:bodyPr/>
                    <a:lstStyle/>
                    <a:p>
                      <a:pPr algn="l" rtl="0" fontAlgn="t"/>
                      <a:r>
                        <a:rPr lang="en-CA" sz="1800" b="0" i="0" u="none" strike="noStrike">
                          <a:solidFill>
                            <a:srgbClr val="002060"/>
                          </a:solidFill>
                          <a:effectLst/>
                          <a:latin typeface="Segoe UI" panose="020B0502040204020203" pitchFamily="34" charset="0"/>
                        </a:rPr>
                        <a:t>Missing count</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0</a:t>
                      </a:r>
                    </a:p>
                  </a:txBody>
                  <a:tcPr marL="9525" marR="9525" marT="9525" marB="0">
                    <a:lnL>
                      <a:noFill/>
                    </a:lnL>
                    <a:lnR>
                      <a:noFill/>
                    </a:lnR>
                    <a:lnT>
                      <a:noFill/>
                    </a:lnT>
                    <a:lnB>
                      <a:noFill/>
                    </a:lnB>
                    <a:noFill/>
                  </a:tcPr>
                </a:tc>
                <a:extLst>
                  <a:ext uri="{0D108BD9-81ED-4DB2-BD59-A6C34878D82A}">
                    <a16:rowId xmlns:a16="http://schemas.microsoft.com/office/drawing/2014/main" val="2907564289"/>
                  </a:ext>
                </a:extLst>
              </a:tr>
              <a:tr h="333375">
                <a:tc>
                  <a:txBody>
                    <a:bodyPr/>
                    <a:lstStyle/>
                    <a:p>
                      <a:pPr algn="l" rtl="0" fontAlgn="t"/>
                      <a:r>
                        <a:rPr lang="en-CA" sz="1800" b="0" i="0" u="none" strike="noStrike">
                          <a:solidFill>
                            <a:srgbClr val="002060"/>
                          </a:solidFill>
                          <a:effectLst/>
                          <a:latin typeface="Segoe UI" panose="020B0502040204020203" pitchFamily="34" charset="0"/>
                        </a:rPr>
                        <a:t>Empty count</a:t>
                      </a:r>
                    </a:p>
                  </a:txBody>
                  <a:tcPr marL="9525" marR="9525" marT="9525" marB="0">
                    <a:lnL>
                      <a:noFill/>
                    </a:lnL>
                    <a:lnR>
                      <a:noFill/>
                    </a:lnR>
                    <a:lnT>
                      <a:noFill/>
                    </a:lnT>
                    <a:lnB>
                      <a:noFill/>
                    </a:lnB>
                    <a:noFill/>
                  </a:tcPr>
                </a:tc>
                <a:tc>
                  <a:txBody>
                    <a:bodyPr/>
                    <a:lstStyle/>
                    <a:p>
                      <a:pPr algn="l" rtl="0" fontAlgn="t"/>
                      <a:r>
                        <a:rPr lang="en-CA" sz="1800" b="0" i="0" u="none" strike="noStrike">
                          <a:solidFill>
                            <a:srgbClr val="002060"/>
                          </a:solidFill>
                          <a:effectLst/>
                          <a:latin typeface="Segoe UI" panose="020B0502040204020203" pitchFamily="34" charset="0"/>
                        </a:rPr>
                        <a:t>: 0</a:t>
                      </a:r>
                    </a:p>
                  </a:txBody>
                  <a:tcPr marL="9525" marR="9525" marT="9525" marB="0">
                    <a:lnL>
                      <a:noFill/>
                    </a:lnL>
                    <a:lnR>
                      <a:noFill/>
                    </a:lnR>
                    <a:lnT>
                      <a:noFill/>
                    </a:lnT>
                    <a:lnB>
                      <a:noFill/>
                    </a:lnB>
                    <a:noFill/>
                  </a:tcPr>
                </a:tc>
                <a:extLst>
                  <a:ext uri="{0D108BD9-81ED-4DB2-BD59-A6C34878D82A}">
                    <a16:rowId xmlns:a16="http://schemas.microsoft.com/office/drawing/2014/main" val="3291927833"/>
                  </a:ext>
                </a:extLst>
              </a:tr>
              <a:tr h="333375">
                <a:tc>
                  <a:txBody>
                    <a:bodyPr/>
                    <a:lstStyle/>
                    <a:p>
                      <a:pPr algn="l" rtl="0" fontAlgn="t"/>
                      <a:r>
                        <a:rPr lang="en-CA" sz="1800" b="0" i="0" u="none" strike="noStrike">
                          <a:solidFill>
                            <a:srgbClr val="002060"/>
                          </a:solidFill>
                          <a:effectLst/>
                          <a:latin typeface="Segoe UI" panose="020B0502040204020203" pitchFamily="34" charset="0"/>
                        </a:rPr>
                        <a:t>Error count</a:t>
                      </a:r>
                    </a:p>
                  </a:txBody>
                  <a:tcPr marL="9525" marR="9525" marT="9525" marB="0">
                    <a:lnL>
                      <a:noFill/>
                    </a:lnL>
                    <a:lnR>
                      <a:noFill/>
                    </a:lnR>
                    <a:lnT>
                      <a:noFill/>
                    </a:lnT>
                    <a:lnB>
                      <a:noFill/>
                    </a:lnB>
                    <a:noFill/>
                  </a:tcPr>
                </a:tc>
                <a:tc>
                  <a:txBody>
                    <a:bodyPr/>
                    <a:lstStyle/>
                    <a:p>
                      <a:pPr algn="l" rtl="0" fontAlgn="t"/>
                      <a:r>
                        <a:rPr lang="en-CA" sz="1800" b="0" i="0" u="none" strike="noStrike" dirty="0">
                          <a:solidFill>
                            <a:srgbClr val="002060"/>
                          </a:solidFill>
                          <a:effectLst/>
                          <a:latin typeface="Segoe UI" panose="020B0502040204020203" pitchFamily="34" charset="0"/>
                        </a:rPr>
                        <a:t>: 0</a:t>
                      </a:r>
                    </a:p>
                  </a:txBody>
                  <a:tcPr marL="9525" marR="9525" marT="9525" marB="0">
                    <a:lnL>
                      <a:noFill/>
                    </a:lnL>
                    <a:lnR>
                      <a:noFill/>
                    </a:lnR>
                    <a:lnT>
                      <a:noFill/>
                    </a:lnT>
                    <a:lnB>
                      <a:noFill/>
                    </a:lnB>
                    <a:noFill/>
                  </a:tcPr>
                </a:tc>
                <a:extLst>
                  <a:ext uri="{0D108BD9-81ED-4DB2-BD59-A6C34878D82A}">
                    <a16:rowId xmlns:a16="http://schemas.microsoft.com/office/drawing/2014/main" val="2715560144"/>
                  </a:ext>
                </a:extLst>
              </a:tr>
            </a:tbl>
          </a:graphicData>
        </a:graphic>
      </p:graphicFrame>
      <p:sp>
        <p:nvSpPr>
          <p:cNvPr id="2" name="TextBox 1">
            <a:extLst>
              <a:ext uri="{FF2B5EF4-FFF2-40B4-BE49-F238E27FC236}">
                <a16:creationId xmlns:a16="http://schemas.microsoft.com/office/drawing/2014/main" id="{E3FDFF46-2741-72CC-1022-71F52F3FB338}"/>
              </a:ext>
            </a:extLst>
          </p:cNvPr>
          <p:cNvSpPr txBox="1"/>
          <p:nvPr/>
        </p:nvSpPr>
        <p:spPr>
          <a:xfrm>
            <a:off x="4517363" y="1714573"/>
            <a:ext cx="640080" cy="307777"/>
          </a:xfrm>
          <a:prstGeom prst="rect">
            <a:avLst/>
          </a:prstGeom>
          <a:noFill/>
        </p:spPr>
        <p:txBody>
          <a:bodyPr wrap="square" rtlCol="0">
            <a:spAutoFit/>
          </a:bodyPr>
          <a:lstStyle/>
          <a:p>
            <a:r>
              <a:rPr lang="en-CA" sz="1400" dirty="0"/>
              <a:t>357</a:t>
            </a:r>
          </a:p>
        </p:txBody>
      </p:sp>
      <p:sp>
        <p:nvSpPr>
          <p:cNvPr id="3" name="TextBox 2">
            <a:extLst>
              <a:ext uri="{FF2B5EF4-FFF2-40B4-BE49-F238E27FC236}">
                <a16:creationId xmlns:a16="http://schemas.microsoft.com/office/drawing/2014/main" id="{88406633-2012-275B-E4F8-E7F1C45D79F8}"/>
              </a:ext>
            </a:extLst>
          </p:cNvPr>
          <p:cNvSpPr txBox="1"/>
          <p:nvPr/>
        </p:nvSpPr>
        <p:spPr>
          <a:xfrm>
            <a:off x="2881603" y="3141543"/>
            <a:ext cx="640080" cy="307777"/>
          </a:xfrm>
          <a:prstGeom prst="rect">
            <a:avLst/>
          </a:prstGeom>
          <a:noFill/>
        </p:spPr>
        <p:txBody>
          <a:bodyPr wrap="square" rtlCol="0">
            <a:spAutoFit/>
          </a:bodyPr>
          <a:lstStyle/>
          <a:p>
            <a:r>
              <a:rPr lang="en-CA" sz="1400" dirty="0"/>
              <a:t>212</a:t>
            </a:r>
          </a:p>
        </p:txBody>
      </p:sp>
    </p:spTree>
    <p:extLst>
      <p:ext uri="{BB962C8B-B14F-4D97-AF65-F5344CB8AC3E}">
        <p14:creationId xmlns:p14="http://schemas.microsoft.com/office/powerpoint/2010/main" val="1439378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3C42-EC79-1E67-9CF4-1299473A94F8}"/>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46FEAFCD-358B-CF87-2632-9AF0AEFF5ABB}"/>
              </a:ext>
            </a:extLst>
          </p:cNvPr>
          <p:cNvSpPr>
            <a:spLocks noGrp="1"/>
          </p:cNvSpPr>
          <p:nvPr>
            <p:ph type="sldNum" sz="quarter" idx="12"/>
          </p:nvPr>
        </p:nvSpPr>
        <p:spPr/>
        <p:txBody>
          <a:bodyPr/>
          <a:lstStyle/>
          <a:p>
            <a:fld id="{7B440AA7-77E8-4AB0-ABFE-16BEB06571A0}" type="slidenum">
              <a:rPr lang="en-CA" smtClean="0"/>
              <a:t>7</a:t>
            </a:fld>
            <a:endParaRPr lang="en-CA"/>
          </a:p>
        </p:txBody>
      </p:sp>
      <p:sp>
        <p:nvSpPr>
          <p:cNvPr id="7" name="Title 1">
            <a:extLst>
              <a:ext uri="{FF2B5EF4-FFF2-40B4-BE49-F238E27FC236}">
                <a16:creationId xmlns:a16="http://schemas.microsoft.com/office/drawing/2014/main" id="{A1CC6811-169D-5C50-B60C-1AC9B26540BB}"/>
              </a:ext>
            </a:extLst>
          </p:cNvPr>
          <p:cNvSpPr txBox="1">
            <a:spLocks/>
          </p:cNvSpPr>
          <p:nvPr/>
        </p:nvSpPr>
        <p:spPr>
          <a:xfrm>
            <a:off x="0" y="20956"/>
            <a:ext cx="12192000" cy="772160"/>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4800" b="1" dirty="0">
                <a:ln w="0">
                  <a:solidFill>
                    <a:srgbClr val="012141"/>
                  </a:solidFill>
                </a:ln>
                <a:solidFill>
                  <a:srgbClr val="012141"/>
                </a:solidFill>
                <a:effectLst>
                  <a:outerShdw blurRad="38100" dist="19050" dir="2700000" algn="tl" rotWithShape="0">
                    <a:schemeClr val="dk1">
                      <a:alpha val="40000"/>
                    </a:schemeClr>
                  </a:outerShdw>
                </a:effectLst>
              </a:rPr>
              <a:t>Experiments Done</a:t>
            </a:r>
          </a:p>
        </p:txBody>
      </p:sp>
      <p:pic>
        <p:nvPicPr>
          <p:cNvPr id="5" name="Picture 4">
            <a:extLst>
              <a:ext uri="{FF2B5EF4-FFF2-40B4-BE49-F238E27FC236}">
                <a16:creationId xmlns:a16="http://schemas.microsoft.com/office/drawing/2014/main" id="{18280615-B732-BFAA-9E9A-22C08E6BCBFB}"/>
              </a:ext>
            </a:extLst>
          </p:cNvPr>
          <p:cNvPicPr>
            <a:picLocks noChangeAspect="1"/>
          </p:cNvPicPr>
          <p:nvPr/>
        </p:nvPicPr>
        <p:blipFill>
          <a:blip r:embed="rId2"/>
          <a:stretch>
            <a:fillRect/>
          </a:stretch>
        </p:blipFill>
        <p:spPr>
          <a:xfrm>
            <a:off x="20320" y="895033"/>
            <a:ext cx="12192000" cy="5067934"/>
          </a:xfrm>
          <a:prstGeom prst="rect">
            <a:avLst/>
          </a:prstGeom>
        </p:spPr>
      </p:pic>
    </p:spTree>
    <p:extLst>
      <p:ext uri="{BB962C8B-B14F-4D97-AF65-F5344CB8AC3E}">
        <p14:creationId xmlns:p14="http://schemas.microsoft.com/office/powerpoint/2010/main" val="349437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9C86-72C6-EDDB-2C06-8E71C2300173}"/>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8CBBA1DF-7843-955B-F1BF-9B34997ED458}"/>
              </a:ext>
            </a:extLst>
          </p:cNvPr>
          <p:cNvSpPr>
            <a:spLocks noGrp="1"/>
          </p:cNvSpPr>
          <p:nvPr>
            <p:ph type="sldNum" sz="quarter" idx="12"/>
          </p:nvPr>
        </p:nvSpPr>
        <p:spPr/>
        <p:txBody>
          <a:bodyPr/>
          <a:lstStyle/>
          <a:p>
            <a:fld id="{7B440AA7-77E8-4AB0-ABFE-16BEB06571A0}" type="slidenum">
              <a:rPr lang="en-CA" smtClean="0"/>
              <a:t>8</a:t>
            </a:fld>
            <a:endParaRPr lang="en-CA"/>
          </a:p>
        </p:txBody>
      </p:sp>
      <p:sp>
        <p:nvSpPr>
          <p:cNvPr id="7" name="Title 1">
            <a:extLst>
              <a:ext uri="{FF2B5EF4-FFF2-40B4-BE49-F238E27FC236}">
                <a16:creationId xmlns:a16="http://schemas.microsoft.com/office/drawing/2014/main" id="{362A23CC-B520-0D47-276F-472E32A98161}"/>
              </a:ext>
            </a:extLst>
          </p:cNvPr>
          <p:cNvSpPr txBox="1">
            <a:spLocks/>
          </p:cNvSpPr>
          <p:nvPr/>
        </p:nvSpPr>
        <p:spPr>
          <a:xfrm>
            <a:off x="81280" y="227965"/>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Model Expectation</a:t>
            </a:r>
          </a:p>
        </p:txBody>
      </p:sp>
      <p:pic>
        <p:nvPicPr>
          <p:cNvPr id="3" name="Picture 2">
            <a:extLst>
              <a:ext uri="{FF2B5EF4-FFF2-40B4-BE49-F238E27FC236}">
                <a16:creationId xmlns:a16="http://schemas.microsoft.com/office/drawing/2014/main" id="{2E59E1A7-760D-284B-78CA-103C2333BF01}"/>
              </a:ext>
            </a:extLst>
          </p:cNvPr>
          <p:cNvPicPr>
            <a:picLocks noChangeAspect="1"/>
          </p:cNvPicPr>
          <p:nvPr/>
        </p:nvPicPr>
        <p:blipFill>
          <a:blip r:embed="rId2"/>
          <a:stretch>
            <a:fillRect/>
          </a:stretch>
        </p:blipFill>
        <p:spPr>
          <a:xfrm>
            <a:off x="1023229" y="1256997"/>
            <a:ext cx="10145541" cy="4344006"/>
          </a:xfrm>
          <a:prstGeom prst="rect">
            <a:avLst/>
          </a:prstGeom>
        </p:spPr>
      </p:pic>
    </p:spTree>
    <p:extLst>
      <p:ext uri="{BB962C8B-B14F-4D97-AF65-F5344CB8AC3E}">
        <p14:creationId xmlns:p14="http://schemas.microsoft.com/office/powerpoint/2010/main" val="1653153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BD0D-E844-1FD7-E1BA-572C699CA09B}"/>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5C9E9F38-3104-3A9B-E44B-FE0A6BEC1D00}"/>
              </a:ext>
            </a:extLst>
          </p:cNvPr>
          <p:cNvSpPr>
            <a:spLocks noGrp="1"/>
          </p:cNvSpPr>
          <p:nvPr>
            <p:ph type="sldNum" sz="quarter" idx="12"/>
          </p:nvPr>
        </p:nvSpPr>
        <p:spPr/>
        <p:txBody>
          <a:bodyPr/>
          <a:lstStyle/>
          <a:p>
            <a:fld id="{7B440AA7-77E8-4AB0-ABFE-16BEB06571A0}" type="slidenum">
              <a:rPr lang="en-CA" smtClean="0"/>
              <a:t>9</a:t>
            </a:fld>
            <a:endParaRPr lang="en-CA"/>
          </a:p>
        </p:txBody>
      </p:sp>
      <p:sp>
        <p:nvSpPr>
          <p:cNvPr id="7" name="Title 1">
            <a:extLst>
              <a:ext uri="{FF2B5EF4-FFF2-40B4-BE49-F238E27FC236}">
                <a16:creationId xmlns:a16="http://schemas.microsoft.com/office/drawing/2014/main" id="{2201A264-A0C5-CAF5-562D-675724778A20}"/>
              </a:ext>
            </a:extLst>
          </p:cNvPr>
          <p:cNvSpPr txBox="1">
            <a:spLocks/>
          </p:cNvSpPr>
          <p:nvPr/>
        </p:nvSpPr>
        <p:spPr>
          <a:xfrm>
            <a:off x="0" y="1731644"/>
            <a:ext cx="12192000" cy="1448435"/>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Two-Class Boosted Decision Tree</a:t>
            </a:r>
          </a:p>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(The Best Model)</a:t>
            </a:r>
          </a:p>
        </p:txBody>
      </p:sp>
      <p:pic>
        <p:nvPicPr>
          <p:cNvPr id="3" name="Graphic 2" descr="Crown">
            <a:extLst>
              <a:ext uri="{FF2B5EF4-FFF2-40B4-BE49-F238E27FC236}">
                <a16:creationId xmlns:a16="http://schemas.microsoft.com/office/drawing/2014/main" id="{98D3FB6A-1D99-78AB-0A2C-C1903D8CD7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56480" y="1112520"/>
            <a:ext cx="914400" cy="914400"/>
          </a:xfrm>
          <a:prstGeom prst="rect">
            <a:avLst/>
          </a:prstGeom>
        </p:spPr>
      </p:pic>
    </p:spTree>
    <p:extLst>
      <p:ext uri="{BB962C8B-B14F-4D97-AF65-F5344CB8AC3E}">
        <p14:creationId xmlns:p14="http://schemas.microsoft.com/office/powerpoint/2010/main" val="138229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D6009-F25A-B3CC-2E35-AFC0C2059F2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2B6233-70C1-F7D0-FE47-B99D33A7F446}"/>
              </a:ext>
            </a:extLst>
          </p:cNvPr>
          <p:cNvPicPr>
            <a:picLocks noChangeAspect="1"/>
          </p:cNvPicPr>
          <p:nvPr/>
        </p:nvPicPr>
        <p:blipFill>
          <a:blip r:embed="rId2"/>
          <a:stretch>
            <a:fillRect/>
          </a:stretch>
        </p:blipFill>
        <p:spPr>
          <a:xfrm>
            <a:off x="536263" y="0"/>
            <a:ext cx="11119474" cy="6858000"/>
          </a:xfrm>
          <a:prstGeom prst="rect">
            <a:avLst/>
          </a:prstGeom>
        </p:spPr>
      </p:pic>
      <p:sp>
        <p:nvSpPr>
          <p:cNvPr id="16" name="Slide Number Placeholder 15">
            <a:extLst>
              <a:ext uri="{FF2B5EF4-FFF2-40B4-BE49-F238E27FC236}">
                <a16:creationId xmlns:a16="http://schemas.microsoft.com/office/drawing/2014/main" id="{2026574A-EB37-3979-D682-2FACA54FB47F}"/>
              </a:ext>
            </a:extLst>
          </p:cNvPr>
          <p:cNvSpPr>
            <a:spLocks noGrp="1"/>
          </p:cNvSpPr>
          <p:nvPr>
            <p:ph type="sldNum" sz="quarter" idx="12"/>
          </p:nvPr>
        </p:nvSpPr>
        <p:spPr/>
        <p:txBody>
          <a:bodyPr/>
          <a:lstStyle/>
          <a:p>
            <a:fld id="{7B440AA7-77E8-4AB0-ABFE-16BEB06571A0}" type="slidenum">
              <a:rPr lang="en-CA" smtClean="0"/>
              <a:t>10</a:t>
            </a:fld>
            <a:endParaRPr lang="en-CA"/>
          </a:p>
        </p:txBody>
      </p:sp>
      <p:sp>
        <p:nvSpPr>
          <p:cNvPr id="2" name="Oval 1">
            <a:extLst>
              <a:ext uri="{FF2B5EF4-FFF2-40B4-BE49-F238E27FC236}">
                <a16:creationId xmlns:a16="http://schemas.microsoft.com/office/drawing/2014/main" id="{3898FEF1-8896-53F5-AA6B-4F558410F543}"/>
              </a:ext>
            </a:extLst>
          </p:cNvPr>
          <p:cNvSpPr/>
          <p:nvPr/>
        </p:nvSpPr>
        <p:spPr>
          <a:xfrm>
            <a:off x="5293360" y="6075680"/>
            <a:ext cx="416560" cy="43624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Oval 3">
            <a:extLst>
              <a:ext uri="{FF2B5EF4-FFF2-40B4-BE49-F238E27FC236}">
                <a16:creationId xmlns:a16="http://schemas.microsoft.com/office/drawing/2014/main" id="{C08A387F-D4E6-B504-CD66-0305936A6A5F}"/>
              </a:ext>
            </a:extLst>
          </p:cNvPr>
          <p:cNvSpPr/>
          <p:nvPr/>
        </p:nvSpPr>
        <p:spPr>
          <a:xfrm>
            <a:off x="6228080" y="5252720"/>
            <a:ext cx="416560" cy="436245"/>
          </a:xfrm>
          <a:prstGeom prst="ellipse">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a:extLst>
              <a:ext uri="{FF2B5EF4-FFF2-40B4-BE49-F238E27FC236}">
                <a16:creationId xmlns:a16="http://schemas.microsoft.com/office/drawing/2014/main" id="{DF1EEE20-A9DE-573E-765D-8AC5F9D4B9B2}"/>
              </a:ext>
            </a:extLst>
          </p:cNvPr>
          <p:cNvPicPr>
            <a:picLocks noChangeAspect="1"/>
          </p:cNvPicPr>
          <p:nvPr/>
        </p:nvPicPr>
        <p:blipFill>
          <a:blip r:embed="rId3"/>
          <a:stretch>
            <a:fillRect/>
          </a:stretch>
        </p:blipFill>
        <p:spPr>
          <a:xfrm>
            <a:off x="8280145" y="3588556"/>
            <a:ext cx="3121592" cy="3051640"/>
          </a:xfrm>
          <a:prstGeom prst="rect">
            <a:avLst/>
          </a:prstGeom>
        </p:spPr>
      </p:pic>
    </p:spTree>
    <p:extLst>
      <p:ext uri="{BB962C8B-B14F-4D97-AF65-F5344CB8AC3E}">
        <p14:creationId xmlns:p14="http://schemas.microsoft.com/office/powerpoint/2010/main" val="3189238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37D6-FA42-5356-3FC3-6E9A22D8BB6D}"/>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08B17179-7E95-2AFC-B104-1F9B8681D148}"/>
              </a:ext>
            </a:extLst>
          </p:cNvPr>
          <p:cNvSpPr>
            <a:spLocks noGrp="1"/>
          </p:cNvSpPr>
          <p:nvPr>
            <p:ph type="sldNum" sz="quarter" idx="12"/>
          </p:nvPr>
        </p:nvSpPr>
        <p:spPr>
          <a:xfrm>
            <a:off x="8610600" y="6356350"/>
            <a:ext cx="2743200" cy="2011680"/>
          </a:xfrm>
        </p:spPr>
        <p:txBody>
          <a:bodyPr/>
          <a:lstStyle/>
          <a:p>
            <a:fld id="{7B440AA7-77E8-4AB0-ABFE-16BEB06571A0}" type="slidenum">
              <a:rPr lang="en-CA" smtClean="0"/>
              <a:t>11</a:t>
            </a:fld>
            <a:endParaRPr lang="en-CA"/>
          </a:p>
        </p:txBody>
      </p:sp>
      <p:sp>
        <p:nvSpPr>
          <p:cNvPr id="30" name="Frame 29">
            <a:extLst>
              <a:ext uri="{FF2B5EF4-FFF2-40B4-BE49-F238E27FC236}">
                <a16:creationId xmlns:a16="http://schemas.microsoft.com/office/drawing/2014/main" id="{E273DA3D-E509-4D61-2BEF-92E28617CF75}"/>
              </a:ext>
            </a:extLst>
          </p:cNvPr>
          <p:cNvSpPr/>
          <p:nvPr/>
        </p:nvSpPr>
        <p:spPr>
          <a:xfrm>
            <a:off x="9903355" y="115348"/>
            <a:ext cx="2157858" cy="2158081"/>
          </a:xfrm>
          <a:prstGeom prst="frame">
            <a:avLst>
              <a:gd name="adj1" fmla="val 2315"/>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a:solidFill>
                <a:schemeClr val="tx1"/>
              </a:solidFill>
            </a:endParaRPr>
          </a:p>
        </p:txBody>
      </p:sp>
      <p:pic>
        <p:nvPicPr>
          <p:cNvPr id="3" name="Picture 2">
            <a:extLst>
              <a:ext uri="{FF2B5EF4-FFF2-40B4-BE49-F238E27FC236}">
                <a16:creationId xmlns:a16="http://schemas.microsoft.com/office/drawing/2014/main" id="{DF3D64FE-1B75-D7C8-9C97-85EF9BF3E573}"/>
              </a:ext>
            </a:extLst>
          </p:cNvPr>
          <p:cNvPicPr>
            <a:picLocks noChangeAspect="1"/>
          </p:cNvPicPr>
          <p:nvPr/>
        </p:nvPicPr>
        <p:blipFill>
          <a:blip r:embed="rId2"/>
          <a:stretch>
            <a:fillRect/>
          </a:stretch>
        </p:blipFill>
        <p:spPr>
          <a:xfrm>
            <a:off x="145045" y="162004"/>
            <a:ext cx="5454938" cy="6675120"/>
          </a:xfrm>
          <a:prstGeom prst="rect">
            <a:avLst/>
          </a:prstGeom>
        </p:spPr>
      </p:pic>
      <p:pic>
        <p:nvPicPr>
          <p:cNvPr id="5" name="Picture 4">
            <a:extLst>
              <a:ext uri="{FF2B5EF4-FFF2-40B4-BE49-F238E27FC236}">
                <a16:creationId xmlns:a16="http://schemas.microsoft.com/office/drawing/2014/main" id="{227F4228-F779-7451-FA4A-409F767F8567}"/>
              </a:ext>
            </a:extLst>
          </p:cNvPr>
          <p:cNvPicPr>
            <a:picLocks noChangeAspect="1"/>
          </p:cNvPicPr>
          <p:nvPr/>
        </p:nvPicPr>
        <p:blipFill>
          <a:blip r:embed="rId3"/>
          <a:stretch>
            <a:fillRect/>
          </a:stretch>
        </p:blipFill>
        <p:spPr>
          <a:xfrm>
            <a:off x="6333785" y="4526151"/>
            <a:ext cx="2001203" cy="2011680"/>
          </a:xfrm>
          <a:prstGeom prst="rect">
            <a:avLst/>
          </a:prstGeom>
        </p:spPr>
      </p:pic>
      <p:pic>
        <p:nvPicPr>
          <p:cNvPr id="7" name="Picture 6">
            <a:extLst>
              <a:ext uri="{FF2B5EF4-FFF2-40B4-BE49-F238E27FC236}">
                <a16:creationId xmlns:a16="http://schemas.microsoft.com/office/drawing/2014/main" id="{4E39B5A7-E6EE-8DB2-2E95-37963F8984EC}"/>
              </a:ext>
            </a:extLst>
          </p:cNvPr>
          <p:cNvPicPr>
            <a:picLocks noChangeAspect="1"/>
          </p:cNvPicPr>
          <p:nvPr/>
        </p:nvPicPr>
        <p:blipFill>
          <a:blip r:embed="rId4"/>
          <a:stretch>
            <a:fillRect/>
          </a:stretch>
        </p:blipFill>
        <p:spPr>
          <a:xfrm>
            <a:off x="9993733" y="4526151"/>
            <a:ext cx="1980572" cy="2011680"/>
          </a:xfrm>
          <a:prstGeom prst="rect">
            <a:avLst/>
          </a:prstGeom>
        </p:spPr>
      </p:pic>
      <p:pic>
        <p:nvPicPr>
          <p:cNvPr id="9" name="Picture 8">
            <a:extLst>
              <a:ext uri="{FF2B5EF4-FFF2-40B4-BE49-F238E27FC236}">
                <a16:creationId xmlns:a16="http://schemas.microsoft.com/office/drawing/2014/main" id="{C098714A-4139-73EB-434C-726862285F23}"/>
              </a:ext>
            </a:extLst>
          </p:cNvPr>
          <p:cNvPicPr>
            <a:picLocks noChangeAspect="1"/>
          </p:cNvPicPr>
          <p:nvPr/>
        </p:nvPicPr>
        <p:blipFill>
          <a:blip r:embed="rId5"/>
          <a:stretch>
            <a:fillRect/>
          </a:stretch>
        </p:blipFill>
        <p:spPr>
          <a:xfrm>
            <a:off x="8227418" y="2393950"/>
            <a:ext cx="1990726" cy="2011680"/>
          </a:xfrm>
          <a:prstGeom prst="rect">
            <a:avLst/>
          </a:prstGeom>
        </p:spPr>
      </p:pic>
      <p:pic>
        <p:nvPicPr>
          <p:cNvPr id="11" name="Picture 10">
            <a:extLst>
              <a:ext uri="{FF2B5EF4-FFF2-40B4-BE49-F238E27FC236}">
                <a16:creationId xmlns:a16="http://schemas.microsoft.com/office/drawing/2014/main" id="{D4A43B88-D142-EA65-C29A-76C946E34AF6}"/>
              </a:ext>
            </a:extLst>
          </p:cNvPr>
          <p:cNvPicPr>
            <a:picLocks noChangeAspect="1"/>
          </p:cNvPicPr>
          <p:nvPr/>
        </p:nvPicPr>
        <p:blipFill>
          <a:blip r:embed="rId6"/>
          <a:stretch>
            <a:fillRect/>
          </a:stretch>
        </p:blipFill>
        <p:spPr>
          <a:xfrm>
            <a:off x="6333785" y="228729"/>
            <a:ext cx="2011680" cy="2011680"/>
          </a:xfrm>
          <a:prstGeom prst="rect">
            <a:avLst/>
          </a:prstGeom>
        </p:spPr>
      </p:pic>
      <p:pic>
        <p:nvPicPr>
          <p:cNvPr id="13" name="Picture 12">
            <a:extLst>
              <a:ext uri="{FF2B5EF4-FFF2-40B4-BE49-F238E27FC236}">
                <a16:creationId xmlns:a16="http://schemas.microsoft.com/office/drawing/2014/main" id="{7D57A5AE-3616-8688-637A-83E8B31DEC87}"/>
              </a:ext>
            </a:extLst>
          </p:cNvPr>
          <p:cNvPicPr>
            <a:picLocks noChangeAspect="1"/>
          </p:cNvPicPr>
          <p:nvPr/>
        </p:nvPicPr>
        <p:blipFill>
          <a:blip r:embed="rId7"/>
          <a:stretch>
            <a:fillRect/>
          </a:stretch>
        </p:blipFill>
        <p:spPr>
          <a:xfrm>
            <a:off x="10022631" y="228729"/>
            <a:ext cx="1919307" cy="2011680"/>
          </a:xfrm>
          <a:prstGeom prst="rect">
            <a:avLst/>
          </a:prstGeom>
        </p:spPr>
      </p:pic>
    </p:spTree>
    <p:extLst>
      <p:ext uri="{BB962C8B-B14F-4D97-AF65-F5344CB8AC3E}">
        <p14:creationId xmlns:p14="http://schemas.microsoft.com/office/powerpoint/2010/main" val="3370636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F910-ACEC-32E2-12F8-22CA9BA51F7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4FBE409-F5C0-4438-4C30-B3508D2F95A1}"/>
              </a:ext>
            </a:extLst>
          </p:cNvPr>
          <p:cNvPicPr>
            <a:picLocks noChangeAspect="1"/>
          </p:cNvPicPr>
          <p:nvPr/>
        </p:nvPicPr>
        <p:blipFill>
          <a:blip r:embed="rId2"/>
          <a:stretch>
            <a:fillRect/>
          </a:stretch>
        </p:blipFill>
        <p:spPr>
          <a:xfrm>
            <a:off x="0" y="411058"/>
            <a:ext cx="12192000" cy="6446942"/>
          </a:xfrm>
          <a:prstGeom prst="rect">
            <a:avLst/>
          </a:prstGeom>
        </p:spPr>
      </p:pic>
      <p:sp>
        <p:nvSpPr>
          <p:cNvPr id="16" name="Slide Number Placeholder 15">
            <a:extLst>
              <a:ext uri="{FF2B5EF4-FFF2-40B4-BE49-F238E27FC236}">
                <a16:creationId xmlns:a16="http://schemas.microsoft.com/office/drawing/2014/main" id="{1A837C1A-267F-04B1-4CF2-AE54FC8EB3FC}"/>
              </a:ext>
            </a:extLst>
          </p:cNvPr>
          <p:cNvSpPr>
            <a:spLocks noGrp="1"/>
          </p:cNvSpPr>
          <p:nvPr>
            <p:ph type="sldNum" sz="quarter" idx="12"/>
          </p:nvPr>
        </p:nvSpPr>
        <p:spPr>
          <a:xfrm>
            <a:off x="8610600" y="6356350"/>
            <a:ext cx="2743200" cy="2011680"/>
          </a:xfrm>
        </p:spPr>
        <p:txBody>
          <a:bodyPr/>
          <a:lstStyle/>
          <a:p>
            <a:fld id="{7B440AA7-77E8-4AB0-ABFE-16BEB06571A0}" type="slidenum">
              <a:rPr lang="en-CA" smtClean="0"/>
              <a:t>12</a:t>
            </a:fld>
            <a:endParaRPr lang="en-CA"/>
          </a:p>
        </p:txBody>
      </p:sp>
      <p:sp>
        <p:nvSpPr>
          <p:cNvPr id="6" name="Title 1">
            <a:extLst>
              <a:ext uri="{FF2B5EF4-FFF2-40B4-BE49-F238E27FC236}">
                <a16:creationId xmlns:a16="http://schemas.microsoft.com/office/drawing/2014/main" id="{1B48D91B-245C-D902-00A1-0E8D96A69148}"/>
              </a:ext>
            </a:extLst>
          </p:cNvPr>
          <p:cNvSpPr txBox="1">
            <a:spLocks/>
          </p:cNvSpPr>
          <p:nvPr/>
        </p:nvSpPr>
        <p:spPr>
          <a:xfrm>
            <a:off x="1473200" y="20956"/>
            <a:ext cx="10718800" cy="772160"/>
          </a:xfrm>
          <a:prstGeom prst="rect">
            <a:avLst/>
          </a:prstGeom>
          <a:solidFill>
            <a:schemeClr val="bg1"/>
          </a:solid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4800" b="1" dirty="0">
                <a:ln w="0">
                  <a:solidFill>
                    <a:srgbClr val="012141"/>
                  </a:solidFill>
                </a:ln>
                <a:solidFill>
                  <a:srgbClr val="012141"/>
                </a:solidFill>
                <a:effectLst>
                  <a:outerShdw blurRad="38100" dist="19050" dir="2700000" algn="tl" rotWithShape="0">
                    <a:schemeClr val="dk1">
                      <a:alpha val="40000"/>
                    </a:schemeClr>
                  </a:outerShdw>
                </a:effectLst>
              </a:rPr>
              <a:t>       Preview of Scored Dataset</a:t>
            </a:r>
          </a:p>
        </p:txBody>
      </p:sp>
    </p:spTree>
    <p:extLst>
      <p:ext uri="{BB962C8B-B14F-4D97-AF65-F5344CB8AC3E}">
        <p14:creationId xmlns:p14="http://schemas.microsoft.com/office/powerpoint/2010/main" val="1894114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1A44-40D4-C6C2-FBB7-ED59D420A7FD}"/>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A99EF33C-BA13-015A-A5D9-BED854214D2A}"/>
              </a:ext>
            </a:extLst>
          </p:cNvPr>
          <p:cNvSpPr>
            <a:spLocks noGrp="1"/>
          </p:cNvSpPr>
          <p:nvPr>
            <p:ph type="sldNum" sz="quarter" idx="12"/>
          </p:nvPr>
        </p:nvSpPr>
        <p:spPr/>
        <p:txBody>
          <a:bodyPr/>
          <a:lstStyle/>
          <a:p>
            <a:fld id="{7B440AA7-77E8-4AB0-ABFE-16BEB06571A0}" type="slidenum">
              <a:rPr lang="en-CA" smtClean="0"/>
              <a:t>13</a:t>
            </a:fld>
            <a:endParaRPr lang="en-CA"/>
          </a:p>
        </p:txBody>
      </p:sp>
      <p:sp>
        <p:nvSpPr>
          <p:cNvPr id="7" name="Title 1">
            <a:extLst>
              <a:ext uri="{FF2B5EF4-FFF2-40B4-BE49-F238E27FC236}">
                <a16:creationId xmlns:a16="http://schemas.microsoft.com/office/drawing/2014/main" id="{9A7F9408-3D2F-E878-08BB-6E483A9999FC}"/>
              </a:ext>
            </a:extLst>
          </p:cNvPr>
          <p:cNvSpPr txBox="1">
            <a:spLocks/>
          </p:cNvSpPr>
          <p:nvPr/>
        </p:nvSpPr>
        <p:spPr>
          <a:xfrm>
            <a:off x="0" y="1731644"/>
            <a:ext cx="12192000" cy="1448435"/>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Two-Class Logistic Regression</a:t>
            </a:r>
          </a:p>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(The 2</a:t>
            </a:r>
            <a:r>
              <a:rPr lang="en-CA" sz="4800" b="1" baseline="30000" dirty="0">
                <a:ln w="0">
                  <a:solidFill>
                    <a:srgbClr val="012141"/>
                  </a:solidFill>
                </a:ln>
                <a:solidFill>
                  <a:srgbClr val="012141"/>
                </a:solidFill>
                <a:effectLst>
                  <a:outerShdw blurRad="38100" dist="19050" dir="2700000" algn="tl" rotWithShape="0">
                    <a:schemeClr val="dk1">
                      <a:alpha val="40000"/>
                    </a:schemeClr>
                  </a:outerShdw>
                </a:effectLst>
              </a:rPr>
              <a:t>nd</a:t>
            </a: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 Best Model)</a:t>
            </a:r>
          </a:p>
        </p:txBody>
      </p:sp>
    </p:spTree>
    <p:extLst>
      <p:ext uri="{BB962C8B-B14F-4D97-AF65-F5344CB8AC3E}">
        <p14:creationId xmlns:p14="http://schemas.microsoft.com/office/powerpoint/2010/main" val="129046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B19B-825C-F7F0-A027-52D53F816D62}"/>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5D938427-6232-F3CC-37C6-2FBC27A72931}"/>
              </a:ext>
            </a:extLst>
          </p:cNvPr>
          <p:cNvSpPr>
            <a:spLocks noGrp="1"/>
          </p:cNvSpPr>
          <p:nvPr>
            <p:ph type="sldNum" sz="quarter" idx="12"/>
          </p:nvPr>
        </p:nvSpPr>
        <p:spPr/>
        <p:txBody>
          <a:bodyPr/>
          <a:lstStyle/>
          <a:p>
            <a:fld id="{7B440AA7-77E8-4AB0-ABFE-16BEB06571A0}" type="slidenum">
              <a:rPr lang="en-CA" smtClean="0"/>
              <a:t>14</a:t>
            </a:fld>
            <a:endParaRPr lang="en-CA"/>
          </a:p>
        </p:txBody>
      </p:sp>
      <p:sp>
        <p:nvSpPr>
          <p:cNvPr id="7" name="Title 1">
            <a:extLst>
              <a:ext uri="{FF2B5EF4-FFF2-40B4-BE49-F238E27FC236}">
                <a16:creationId xmlns:a16="http://schemas.microsoft.com/office/drawing/2014/main" id="{85BE344F-12BF-7066-7FA9-3141352C0076}"/>
              </a:ext>
            </a:extLst>
          </p:cNvPr>
          <p:cNvSpPr txBox="1">
            <a:spLocks/>
          </p:cNvSpPr>
          <p:nvPr/>
        </p:nvSpPr>
        <p:spPr>
          <a:xfrm>
            <a:off x="133350" y="136526"/>
            <a:ext cx="11915775" cy="596900"/>
          </a:xfrm>
          <a:prstGeom prst="rect">
            <a:avLst/>
          </a:prstGeom>
          <a:solidFill>
            <a:srgbClr val="01214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600" b="1" dirty="0">
                <a:solidFill>
                  <a:schemeClr val="bg1"/>
                </a:solidFill>
              </a:rPr>
              <a:t>Two-Class Logistic Regression</a:t>
            </a:r>
          </a:p>
        </p:txBody>
      </p:sp>
      <p:pic>
        <p:nvPicPr>
          <p:cNvPr id="3" name="Picture 2">
            <a:extLst>
              <a:ext uri="{FF2B5EF4-FFF2-40B4-BE49-F238E27FC236}">
                <a16:creationId xmlns:a16="http://schemas.microsoft.com/office/drawing/2014/main" id="{FD20AFB2-1FF4-EE56-3473-9AC31945074F}"/>
              </a:ext>
            </a:extLst>
          </p:cNvPr>
          <p:cNvPicPr>
            <a:picLocks noChangeAspect="1"/>
          </p:cNvPicPr>
          <p:nvPr/>
        </p:nvPicPr>
        <p:blipFill>
          <a:blip r:embed="rId2"/>
          <a:stretch>
            <a:fillRect/>
          </a:stretch>
        </p:blipFill>
        <p:spPr>
          <a:xfrm>
            <a:off x="0" y="0"/>
            <a:ext cx="12165123" cy="6820852"/>
          </a:xfrm>
          <a:prstGeom prst="rect">
            <a:avLst/>
          </a:prstGeom>
        </p:spPr>
      </p:pic>
      <p:sp>
        <p:nvSpPr>
          <p:cNvPr id="2" name="Oval 1">
            <a:extLst>
              <a:ext uri="{FF2B5EF4-FFF2-40B4-BE49-F238E27FC236}">
                <a16:creationId xmlns:a16="http://schemas.microsoft.com/office/drawing/2014/main" id="{BAB0E90D-AB80-0D1D-1951-732200504EEF}"/>
              </a:ext>
            </a:extLst>
          </p:cNvPr>
          <p:cNvSpPr/>
          <p:nvPr/>
        </p:nvSpPr>
        <p:spPr>
          <a:xfrm>
            <a:off x="4632960" y="6024880"/>
            <a:ext cx="416560" cy="43624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Oval 3">
            <a:extLst>
              <a:ext uri="{FF2B5EF4-FFF2-40B4-BE49-F238E27FC236}">
                <a16:creationId xmlns:a16="http://schemas.microsoft.com/office/drawing/2014/main" id="{7AB40C3F-2FFE-F0C2-E77F-263452D1B885}"/>
              </a:ext>
            </a:extLst>
          </p:cNvPr>
          <p:cNvSpPr/>
          <p:nvPr/>
        </p:nvSpPr>
        <p:spPr>
          <a:xfrm>
            <a:off x="5537200" y="5222240"/>
            <a:ext cx="416560" cy="436245"/>
          </a:xfrm>
          <a:prstGeom prst="ellipse">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Picture 8">
            <a:extLst>
              <a:ext uri="{FF2B5EF4-FFF2-40B4-BE49-F238E27FC236}">
                <a16:creationId xmlns:a16="http://schemas.microsoft.com/office/drawing/2014/main" id="{FE030FD7-99F5-606A-ECEF-F7F72377742D}"/>
              </a:ext>
            </a:extLst>
          </p:cNvPr>
          <p:cNvPicPr>
            <a:picLocks noChangeAspect="1"/>
          </p:cNvPicPr>
          <p:nvPr/>
        </p:nvPicPr>
        <p:blipFill>
          <a:blip r:embed="rId3"/>
          <a:stretch>
            <a:fillRect/>
          </a:stretch>
        </p:blipFill>
        <p:spPr>
          <a:xfrm>
            <a:off x="7561340" y="3781953"/>
            <a:ext cx="3429479" cy="3038899"/>
          </a:xfrm>
          <a:prstGeom prst="rect">
            <a:avLst/>
          </a:prstGeom>
        </p:spPr>
      </p:pic>
    </p:spTree>
    <p:extLst>
      <p:ext uri="{BB962C8B-B14F-4D97-AF65-F5344CB8AC3E}">
        <p14:creationId xmlns:p14="http://schemas.microsoft.com/office/powerpoint/2010/main" val="3835995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6A82-D49B-8D18-3FB3-1931AB98AD46}"/>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7A51B4D4-FFDD-1CF7-A2D8-543760F4581C}"/>
              </a:ext>
            </a:extLst>
          </p:cNvPr>
          <p:cNvSpPr>
            <a:spLocks noGrp="1"/>
          </p:cNvSpPr>
          <p:nvPr>
            <p:ph type="sldNum" sz="quarter" idx="12"/>
          </p:nvPr>
        </p:nvSpPr>
        <p:spPr>
          <a:xfrm>
            <a:off x="8610600" y="6356350"/>
            <a:ext cx="2743200" cy="2011680"/>
          </a:xfrm>
        </p:spPr>
        <p:txBody>
          <a:bodyPr/>
          <a:lstStyle/>
          <a:p>
            <a:fld id="{7B440AA7-77E8-4AB0-ABFE-16BEB06571A0}" type="slidenum">
              <a:rPr lang="en-CA" smtClean="0"/>
              <a:t>15</a:t>
            </a:fld>
            <a:endParaRPr lang="en-CA"/>
          </a:p>
        </p:txBody>
      </p:sp>
      <p:pic>
        <p:nvPicPr>
          <p:cNvPr id="17" name="Picture 16">
            <a:extLst>
              <a:ext uri="{FF2B5EF4-FFF2-40B4-BE49-F238E27FC236}">
                <a16:creationId xmlns:a16="http://schemas.microsoft.com/office/drawing/2014/main" id="{742F5207-A2E9-EDFC-EE4D-7D1F6DFD9C1C}"/>
              </a:ext>
            </a:extLst>
          </p:cNvPr>
          <p:cNvPicPr>
            <a:picLocks noChangeAspect="1"/>
          </p:cNvPicPr>
          <p:nvPr/>
        </p:nvPicPr>
        <p:blipFill>
          <a:blip r:embed="rId2"/>
          <a:stretch>
            <a:fillRect/>
          </a:stretch>
        </p:blipFill>
        <p:spPr>
          <a:xfrm>
            <a:off x="20320" y="2540"/>
            <a:ext cx="6031735" cy="6858000"/>
          </a:xfrm>
          <a:prstGeom prst="rect">
            <a:avLst/>
          </a:prstGeom>
        </p:spPr>
      </p:pic>
      <p:pic>
        <p:nvPicPr>
          <p:cNvPr id="21" name="Picture 20">
            <a:extLst>
              <a:ext uri="{FF2B5EF4-FFF2-40B4-BE49-F238E27FC236}">
                <a16:creationId xmlns:a16="http://schemas.microsoft.com/office/drawing/2014/main" id="{59FC2227-BF3C-D9AC-C472-FA5DB3A2AE3B}"/>
              </a:ext>
            </a:extLst>
          </p:cNvPr>
          <p:cNvPicPr>
            <a:picLocks noChangeAspect="1"/>
          </p:cNvPicPr>
          <p:nvPr/>
        </p:nvPicPr>
        <p:blipFill>
          <a:blip r:embed="rId3"/>
          <a:stretch>
            <a:fillRect/>
          </a:stretch>
        </p:blipFill>
        <p:spPr>
          <a:xfrm>
            <a:off x="9940796" y="4344670"/>
            <a:ext cx="1980242" cy="2011680"/>
          </a:xfrm>
          <a:prstGeom prst="rect">
            <a:avLst/>
          </a:prstGeom>
        </p:spPr>
      </p:pic>
      <p:pic>
        <p:nvPicPr>
          <p:cNvPr id="23" name="Picture 22">
            <a:extLst>
              <a:ext uri="{FF2B5EF4-FFF2-40B4-BE49-F238E27FC236}">
                <a16:creationId xmlns:a16="http://schemas.microsoft.com/office/drawing/2014/main" id="{ADF9323F-B430-A71F-B574-C167F11936A9}"/>
              </a:ext>
            </a:extLst>
          </p:cNvPr>
          <p:cNvPicPr>
            <a:picLocks noChangeAspect="1"/>
          </p:cNvPicPr>
          <p:nvPr/>
        </p:nvPicPr>
        <p:blipFill>
          <a:blip r:embed="rId4"/>
          <a:stretch>
            <a:fillRect/>
          </a:stretch>
        </p:blipFill>
        <p:spPr>
          <a:xfrm>
            <a:off x="8125034" y="2423296"/>
            <a:ext cx="1990934" cy="2011680"/>
          </a:xfrm>
          <a:prstGeom prst="rect">
            <a:avLst/>
          </a:prstGeom>
        </p:spPr>
      </p:pic>
      <p:pic>
        <p:nvPicPr>
          <p:cNvPr id="25" name="Picture 24">
            <a:extLst>
              <a:ext uri="{FF2B5EF4-FFF2-40B4-BE49-F238E27FC236}">
                <a16:creationId xmlns:a16="http://schemas.microsoft.com/office/drawing/2014/main" id="{4AB7AD5A-0120-460A-A804-ADC8086AD128}"/>
              </a:ext>
            </a:extLst>
          </p:cNvPr>
          <p:cNvPicPr>
            <a:picLocks noChangeAspect="1"/>
          </p:cNvPicPr>
          <p:nvPr/>
        </p:nvPicPr>
        <p:blipFill>
          <a:blip r:embed="rId5"/>
          <a:stretch>
            <a:fillRect/>
          </a:stretch>
        </p:blipFill>
        <p:spPr>
          <a:xfrm>
            <a:off x="6319964" y="411616"/>
            <a:ext cx="1980880" cy="2011680"/>
          </a:xfrm>
          <a:prstGeom prst="rect">
            <a:avLst/>
          </a:prstGeom>
        </p:spPr>
      </p:pic>
      <p:pic>
        <p:nvPicPr>
          <p:cNvPr id="27" name="Picture 26">
            <a:extLst>
              <a:ext uri="{FF2B5EF4-FFF2-40B4-BE49-F238E27FC236}">
                <a16:creationId xmlns:a16="http://schemas.microsoft.com/office/drawing/2014/main" id="{F125E461-FB35-3FF7-8942-57EC537ECB9B}"/>
              </a:ext>
            </a:extLst>
          </p:cNvPr>
          <p:cNvPicPr>
            <a:picLocks noChangeAspect="1"/>
          </p:cNvPicPr>
          <p:nvPr/>
        </p:nvPicPr>
        <p:blipFill>
          <a:blip r:embed="rId6"/>
          <a:stretch>
            <a:fillRect/>
          </a:stretch>
        </p:blipFill>
        <p:spPr>
          <a:xfrm>
            <a:off x="9940796" y="440691"/>
            <a:ext cx="2001142" cy="2011680"/>
          </a:xfrm>
          <a:prstGeom prst="rect">
            <a:avLst/>
          </a:prstGeom>
        </p:spPr>
      </p:pic>
      <p:pic>
        <p:nvPicPr>
          <p:cNvPr id="29" name="Picture 28">
            <a:extLst>
              <a:ext uri="{FF2B5EF4-FFF2-40B4-BE49-F238E27FC236}">
                <a16:creationId xmlns:a16="http://schemas.microsoft.com/office/drawing/2014/main" id="{1E724F3B-2B98-1693-1C78-9D338F0A4292}"/>
              </a:ext>
            </a:extLst>
          </p:cNvPr>
          <p:cNvPicPr>
            <a:picLocks noChangeAspect="1"/>
          </p:cNvPicPr>
          <p:nvPr/>
        </p:nvPicPr>
        <p:blipFill>
          <a:blip r:embed="rId7"/>
          <a:stretch>
            <a:fillRect/>
          </a:stretch>
        </p:blipFill>
        <p:spPr>
          <a:xfrm>
            <a:off x="6319964" y="4405901"/>
            <a:ext cx="1990934" cy="2011680"/>
          </a:xfrm>
          <a:prstGeom prst="rect">
            <a:avLst/>
          </a:prstGeom>
        </p:spPr>
      </p:pic>
      <p:sp>
        <p:nvSpPr>
          <p:cNvPr id="30" name="Frame 29">
            <a:extLst>
              <a:ext uri="{FF2B5EF4-FFF2-40B4-BE49-F238E27FC236}">
                <a16:creationId xmlns:a16="http://schemas.microsoft.com/office/drawing/2014/main" id="{4269A71F-B2AB-DC09-9949-110C35DB659D}"/>
              </a:ext>
            </a:extLst>
          </p:cNvPr>
          <p:cNvSpPr/>
          <p:nvPr/>
        </p:nvSpPr>
        <p:spPr>
          <a:xfrm>
            <a:off x="9940796" y="294290"/>
            <a:ext cx="2001142" cy="2158081"/>
          </a:xfrm>
          <a:prstGeom prst="frame">
            <a:avLst>
              <a:gd name="adj1" fmla="val 2315"/>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574904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DB22-FC1C-80F5-E44E-65D6A5EE9118}"/>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82191F61-3F79-0924-7992-CEFB43A48806}"/>
              </a:ext>
            </a:extLst>
          </p:cNvPr>
          <p:cNvSpPr>
            <a:spLocks noGrp="1"/>
          </p:cNvSpPr>
          <p:nvPr>
            <p:ph type="sldNum" sz="quarter" idx="12"/>
          </p:nvPr>
        </p:nvSpPr>
        <p:spPr/>
        <p:txBody>
          <a:bodyPr/>
          <a:lstStyle/>
          <a:p>
            <a:fld id="{7B440AA7-77E8-4AB0-ABFE-16BEB06571A0}" type="slidenum">
              <a:rPr lang="en-CA" smtClean="0"/>
              <a:t>16</a:t>
            </a:fld>
            <a:endParaRPr lang="en-CA"/>
          </a:p>
        </p:txBody>
      </p:sp>
      <p:sp>
        <p:nvSpPr>
          <p:cNvPr id="7" name="Title 1">
            <a:extLst>
              <a:ext uri="{FF2B5EF4-FFF2-40B4-BE49-F238E27FC236}">
                <a16:creationId xmlns:a16="http://schemas.microsoft.com/office/drawing/2014/main" id="{5F1DABDD-C40B-7E33-214E-67A54EA2BBAD}"/>
              </a:ext>
            </a:extLst>
          </p:cNvPr>
          <p:cNvSpPr txBox="1">
            <a:spLocks/>
          </p:cNvSpPr>
          <p:nvPr/>
        </p:nvSpPr>
        <p:spPr>
          <a:xfrm>
            <a:off x="0" y="1731644"/>
            <a:ext cx="12192000" cy="1448435"/>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Real Time Inference</a:t>
            </a:r>
          </a:p>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(of Best Model)</a:t>
            </a:r>
          </a:p>
        </p:txBody>
      </p:sp>
    </p:spTree>
    <p:extLst>
      <p:ext uri="{BB962C8B-B14F-4D97-AF65-F5344CB8AC3E}">
        <p14:creationId xmlns:p14="http://schemas.microsoft.com/office/powerpoint/2010/main" val="265443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7F236-6703-8D67-F8EF-94F08DE967CB}"/>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39B6F3B3-E24D-462B-94A7-98F384564B68}"/>
              </a:ext>
            </a:extLst>
          </p:cNvPr>
          <p:cNvSpPr>
            <a:spLocks noGrp="1"/>
          </p:cNvSpPr>
          <p:nvPr>
            <p:ph type="sldNum" sz="quarter" idx="12"/>
          </p:nvPr>
        </p:nvSpPr>
        <p:spPr/>
        <p:txBody>
          <a:bodyPr/>
          <a:lstStyle/>
          <a:p>
            <a:fld id="{7B440AA7-77E8-4AB0-ABFE-16BEB06571A0}" type="slidenum">
              <a:rPr lang="en-CA" smtClean="0"/>
              <a:t>17</a:t>
            </a:fld>
            <a:endParaRPr lang="en-CA"/>
          </a:p>
        </p:txBody>
      </p:sp>
      <p:pic>
        <p:nvPicPr>
          <p:cNvPr id="6" name="Picture 5">
            <a:extLst>
              <a:ext uri="{FF2B5EF4-FFF2-40B4-BE49-F238E27FC236}">
                <a16:creationId xmlns:a16="http://schemas.microsoft.com/office/drawing/2014/main" id="{1BC2D892-387A-8EFB-C1C2-CF89B79AC437}"/>
              </a:ext>
            </a:extLst>
          </p:cNvPr>
          <p:cNvPicPr>
            <a:picLocks noChangeAspect="1"/>
          </p:cNvPicPr>
          <p:nvPr/>
        </p:nvPicPr>
        <p:blipFill>
          <a:blip r:embed="rId2"/>
          <a:stretch>
            <a:fillRect/>
          </a:stretch>
        </p:blipFill>
        <p:spPr>
          <a:xfrm>
            <a:off x="20320" y="0"/>
            <a:ext cx="8212874" cy="6858000"/>
          </a:xfrm>
          <a:prstGeom prst="rect">
            <a:avLst/>
          </a:prstGeom>
        </p:spPr>
      </p:pic>
      <p:pic>
        <p:nvPicPr>
          <p:cNvPr id="9" name="Picture 8">
            <a:extLst>
              <a:ext uri="{FF2B5EF4-FFF2-40B4-BE49-F238E27FC236}">
                <a16:creationId xmlns:a16="http://schemas.microsoft.com/office/drawing/2014/main" id="{D0EC54FA-8BFE-5209-2C71-A9AFA1F64AEF}"/>
              </a:ext>
            </a:extLst>
          </p:cNvPr>
          <p:cNvPicPr>
            <a:picLocks noChangeAspect="1"/>
          </p:cNvPicPr>
          <p:nvPr/>
        </p:nvPicPr>
        <p:blipFill>
          <a:blip r:embed="rId3"/>
          <a:stretch>
            <a:fillRect/>
          </a:stretch>
        </p:blipFill>
        <p:spPr>
          <a:xfrm>
            <a:off x="8391112" y="1162737"/>
            <a:ext cx="2962688" cy="3801005"/>
          </a:xfrm>
          <a:prstGeom prst="rect">
            <a:avLst/>
          </a:prstGeom>
        </p:spPr>
      </p:pic>
    </p:spTree>
    <p:extLst>
      <p:ext uri="{BB962C8B-B14F-4D97-AF65-F5344CB8AC3E}">
        <p14:creationId xmlns:p14="http://schemas.microsoft.com/office/powerpoint/2010/main" val="3988723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FD00F-61DF-6C84-C9D7-4A2DB46B289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E65E6EC-9871-3F14-5D88-1985157C0B1F}"/>
              </a:ext>
            </a:extLst>
          </p:cNvPr>
          <p:cNvPicPr>
            <a:picLocks noChangeAspect="1"/>
          </p:cNvPicPr>
          <p:nvPr/>
        </p:nvPicPr>
        <p:blipFill>
          <a:blip r:embed="rId2"/>
          <a:stretch>
            <a:fillRect/>
          </a:stretch>
        </p:blipFill>
        <p:spPr>
          <a:xfrm>
            <a:off x="2185438" y="548640"/>
            <a:ext cx="8064964" cy="6315712"/>
          </a:xfrm>
          <a:prstGeom prst="rect">
            <a:avLst/>
          </a:prstGeom>
        </p:spPr>
      </p:pic>
      <p:sp>
        <p:nvSpPr>
          <p:cNvPr id="16" name="Slide Number Placeholder 15">
            <a:extLst>
              <a:ext uri="{FF2B5EF4-FFF2-40B4-BE49-F238E27FC236}">
                <a16:creationId xmlns:a16="http://schemas.microsoft.com/office/drawing/2014/main" id="{69CBFB60-7AFF-71C8-F441-FC5CF750755F}"/>
              </a:ext>
            </a:extLst>
          </p:cNvPr>
          <p:cNvSpPr>
            <a:spLocks noGrp="1"/>
          </p:cNvSpPr>
          <p:nvPr>
            <p:ph type="sldNum" sz="quarter" idx="12"/>
          </p:nvPr>
        </p:nvSpPr>
        <p:spPr/>
        <p:txBody>
          <a:bodyPr/>
          <a:lstStyle/>
          <a:p>
            <a:fld id="{7B440AA7-77E8-4AB0-ABFE-16BEB06571A0}" type="slidenum">
              <a:rPr lang="en-CA" smtClean="0"/>
              <a:t>18</a:t>
            </a:fld>
            <a:endParaRPr lang="en-CA"/>
          </a:p>
        </p:txBody>
      </p:sp>
      <p:sp>
        <p:nvSpPr>
          <p:cNvPr id="7" name="Title 1">
            <a:extLst>
              <a:ext uri="{FF2B5EF4-FFF2-40B4-BE49-F238E27FC236}">
                <a16:creationId xmlns:a16="http://schemas.microsoft.com/office/drawing/2014/main" id="{1F7274A7-F918-E4D3-4A05-A8A2797CF581}"/>
              </a:ext>
            </a:extLst>
          </p:cNvPr>
          <p:cNvSpPr txBox="1">
            <a:spLocks/>
          </p:cNvSpPr>
          <p:nvPr/>
        </p:nvSpPr>
        <p:spPr>
          <a:xfrm>
            <a:off x="0" y="0"/>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Other Experiments</a:t>
            </a:r>
          </a:p>
        </p:txBody>
      </p:sp>
      <p:pic>
        <p:nvPicPr>
          <p:cNvPr id="6" name="Picture 5">
            <a:extLst>
              <a:ext uri="{FF2B5EF4-FFF2-40B4-BE49-F238E27FC236}">
                <a16:creationId xmlns:a16="http://schemas.microsoft.com/office/drawing/2014/main" id="{3534F2E6-DDF3-FE95-1F95-2E1F2AE9AD50}"/>
              </a:ext>
            </a:extLst>
          </p:cNvPr>
          <p:cNvPicPr>
            <a:picLocks noChangeAspect="1"/>
          </p:cNvPicPr>
          <p:nvPr/>
        </p:nvPicPr>
        <p:blipFill>
          <a:blip r:embed="rId3"/>
          <a:stretch>
            <a:fillRect/>
          </a:stretch>
        </p:blipFill>
        <p:spPr>
          <a:xfrm>
            <a:off x="86276" y="477403"/>
            <a:ext cx="3222860" cy="2148574"/>
          </a:xfrm>
          <a:prstGeom prst="rect">
            <a:avLst/>
          </a:prstGeom>
        </p:spPr>
      </p:pic>
      <p:pic>
        <p:nvPicPr>
          <p:cNvPr id="9" name="Picture 8">
            <a:extLst>
              <a:ext uri="{FF2B5EF4-FFF2-40B4-BE49-F238E27FC236}">
                <a16:creationId xmlns:a16="http://schemas.microsoft.com/office/drawing/2014/main" id="{5E4CE6CA-5C79-AF02-D0D0-1F86AB8C8B64}"/>
              </a:ext>
            </a:extLst>
          </p:cNvPr>
          <p:cNvPicPr>
            <a:picLocks noChangeAspect="1"/>
          </p:cNvPicPr>
          <p:nvPr/>
        </p:nvPicPr>
        <p:blipFill>
          <a:blip r:embed="rId4"/>
          <a:stretch>
            <a:fillRect/>
          </a:stretch>
        </p:blipFill>
        <p:spPr>
          <a:xfrm>
            <a:off x="25400" y="4195287"/>
            <a:ext cx="2448267" cy="2267266"/>
          </a:xfrm>
          <a:prstGeom prst="rect">
            <a:avLst/>
          </a:prstGeom>
        </p:spPr>
      </p:pic>
      <p:pic>
        <p:nvPicPr>
          <p:cNvPr id="11" name="Picture 10">
            <a:extLst>
              <a:ext uri="{FF2B5EF4-FFF2-40B4-BE49-F238E27FC236}">
                <a16:creationId xmlns:a16="http://schemas.microsoft.com/office/drawing/2014/main" id="{E20BF93A-2D4F-471E-53EC-67201714FC5C}"/>
              </a:ext>
            </a:extLst>
          </p:cNvPr>
          <p:cNvPicPr>
            <a:picLocks noChangeAspect="1"/>
          </p:cNvPicPr>
          <p:nvPr/>
        </p:nvPicPr>
        <p:blipFill>
          <a:blip r:embed="rId5"/>
          <a:stretch>
            <a:fillRect/>
          </a:stretch>
        </p:blipFill>
        <p:spPr>
          <a:xfrm>
            <a:off x="8857172" y="477403"/>
            <a:ext cx="3172268" cy="2076740"/>
          </a:xfrm>
          <a:prstGeom prst="rect">
            <a:avLst/>
          </a:prstGeom>
        </p:spPr>
      </p:pic>
      <p:pic>
        <p:nvPicPr>
          <p:cNvPr id="13" name="Picture 12">
            <a:extLst>
              <a:ext uri="{FF2B5EF4-FFF2-40B4-BE49-F238E27FC236}">
                <a16:creationId xmlns:a16="http://schemas.microsoft.com/office/drawing/2014/main" id="{F5FC3BEA-E267-A42F-12C2-DC730B7DEB32}"/>
              </a:ext>
            </a:extLst>
          </p:cNvPr>
          <p:cNvPicPr>
            <a:picLocks noChangeAspect="1"/>
          </p:cNvPicPr>
          <p:nvPr/>
        </p:nvPicPr>
        <p:blipFill>
          <a:blip r:embed="rId6"/>
          <a:stretch>
            <a:fillRect/>
          </a:stretch>
        </p:blipFill>
        <p:spPr>
          <a:xfrm>
            <a:off x="9238225" y="4303858"/>
            <a:ext cx="2410161" cy="2314898"/>
          </a:xfrm>
          <a:prstGeom prst="rect">
            <a:avLst/>
          </a:prstGeom>
        </p:spPr>
      </p:pic>
    </p:spTree>
    <p:extLst>
      <p:ext uri="{BB962C8B-B14F-4D97-AF65-F5344CB8AC3E}">
        <p14:creationId xmlns:p14="http://schemas.microsoft.com/office/powerpoint/2010/main" val="220888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71C2-CE9E-0507-966A-7E6A6D5A5A59}"/>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4C86255E-6076-2D6B-AF41-89EB044B23C6}"/>
              </a:ext>
            </a:extLst>
          </p:cNvPr>
          <p:cNvSpPr>
            <a:spLocks noGrp="1"/>
          </p:cNvSpPr>
          <p:nvPr>
            <p:ph type="sldNum" sz="quarter" idx="12"/>
          </p:nvPr>
        </p:nvSpPr>
        <p:spPr/>
        <p:txBody>
          <a:bodyPr/>
          <a:lstStyle/>
          <a:p>
            <a:fld id="{7B440AA7-77E8-4AB0-ABFE-16BEB06571A0}" type="slidenum">
              <a:rPr lang="en-CA" smtClean="0"/>
              <a:t>19</a:t>
            </a:fld>
            <a:endParaRPr lang="en-CA"/>
          </a:p>
        </p:txBody>
      </p:sp>
      <p:sp>
        <p:nvSpPr>
          <p:cNvPr id="7" name="Title 1">
            <a:extLst>
              <a:ext uri="{FF2B5EF4-FFF2-40B4-BE49-F238E27FC236}">
                <a16:creationId xmlns:a16="http://schemas.microsoft.com/office/drawing/2014/main" id="{7DA3CBA8-BC77-4C73-F5EF-6FF3DFB76B72}"/>
              </a:ext>
            </a:extLst>
          </p:cNvPr>
          <p:cNvSpPr txBox="1">
            <a:spLocks/>
          </p:cNvSpPr>
          <p:nvPr/>
        </p:nvSpPr>
        <p:spPr>
          <a:xfrm>
            <a:off x="10160" y="0"/>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Automated ML</a:t>
            </a:r>
          </a:p>
        </p:txBody>
      </p:sp>
      <p:pic>
        <p:nvPicPr>
          <p:cNvPr id="5" name="Picture 4">
            <a:extLst>
              <a:ext uri="{FF2B5EF4-FFF2-40B4-BE49-F238E27FC236}">
                <a16:creationId xmlns:a16="http://schemas.microsoft.com/office/drawing/2014/main" id="{325B6333-8F14-0E1F-41DC-52A2B8D46835}"/>
              </a:ext>
            </a:extLst>
          </p:cNvPr>
          <p:cNvPicPr>
            <a:picLocks noChangeAspect="1"/>
          </p:cNvPicPr>
          <p:nvPr/>
        </p:nvPicPr>
        <p:blipFill>
          <a:blip r:embed="rId2"/>
          <a:stretch>
            <a:fillRect/>
          </a:stretch>
        </p:blipFill>
        <p:spPr>
          <a:xfrm>
            <a:off x="1544319" y="828676"/>
            <a:ext cx="9123682" cy="5997740"/>
          </a:xfrm>
          <a:prstGeom prst="rect">
            <a:avLst/>
          </a:prstGeom>
        </p:spPr>
      </p:pic>
    </p:spTree>
    <p:extLst>
      <p:ext uri="{BB962C8B-B14F-4D97-AF65-F5344CB8AC3E}">
        <p14:creationId xmlns:p14="http://schemas.microsoft.com/office/powerpoint/2010/main" val="1253604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1D16D-8E25-96F0-259C-49F2020E580B}"/>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C8E5A217-F73B-0748-6340-A36F94C712E7}"/>
              </a:ext>
            </a:extLst>
          </p:cNvPr>
          <p:cNvSpPr>
            <a:spLocks noGrp="1"/>
          </p:cNvSpPr>
          <p:nvPr>
            <p:ph type="sldNum" sz="quarter" idx="12"/>
          </p:nvPr>
        </p:nvSpPr>
        <p:spPr/>
        <p:txBody>
          <a:bodyPr/>
          <a:lstStyle/>
          <a:p>
            <a:fld id="{7B440AA7-77E8-4AB0-ABFE-16BEB06571A0}" type="slidenum">
              <a:rPr lang="en-CA" smtClean="0"/>
              <a:t>20</a:t>
            </a:fld>
            <a:endParaRPr lang="en-CA"/>
          </a:p>
        </p:txBody>
      </p:sp>
      <p:sp>
        <p:nvSpPr>
          <p:cNvPr id="7" name="Title 1">
            <a:extLst>
              <a:ext uri="{FF2B5EF4-FFF2-40B4-BE49-F238E27FC236}">
                <a16:creationId xmlns:a16="http://schemas.microsoft.com/office/drawing/2014/main" id="{C926E9BE-ACBA-B879-65DD-ADD071B0742B}"/>
              </a:ext>
            </a:extLst>
          </p:cNvPr>
          <p:cNvSpPr txBox="1">
            <a:spLocks/>
          </p:cNvSpPr>
          <p:nvPr/>
        </p:nvSpPr>
        <p:spPr>
          <a:xfrm>
            <a:off x="10160" y="0"/>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Automated ML</a:t>
            </a:r>
          </a:p>
        </p:txBody>
      </p:sp>
      <p:pic>
        <p:nvPicPr>
          <p:cNvPr id="3" name="Picture 2">
            <a:extLst>
              <a:ext uri="{FF2B5EF4-FFF2-40B4-BE49-F238E27FC236}">
                <a16:creationId xmlns:a16="http://schemas.microsoft.com/office/drawing/2014/main" id="{1A710FE7-7865-6B5B-E512-BD4BE734B30C}"/>
              </a:ext>
            </a:extLst>
          </p:cNvPr>
          <p:cNvPicPr>
            <a:picLocks noChangeAspect="1"/>
          </p:cNvPicPr>
          <p:nvPr/>
        </p:nvPicPr>
        <p:blipFill>
          <a:blip r:embed="rId2"/>
          <a:stretch>
            <a:fillRect/>
          </a:stretch>
        </p:blipFill>
        <p:spPr>
          <a:xfrm>
            <a:off x="994650" y="1752366"/>
            <a:ext cx="10202699" cy="3353268"/>
          </a:xfrm>
          <a:prstGeom prst="rect">
            <a:avLst/>
          </a:prstGeom>
        </p:spPr>
      </p:pic>
    </p:spTree>
    <p:extLst>
      <p:ext uri="{BB962C8B-B14F-4D97-AF65-F5344CB8AC3E}">
        <p14:creationId xmlns:p14="http://schemas.microsoft.com/office/powerpoint/2010/main" val="4195862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D7BA-855B-37B4-D7EF-6A5E785D9D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D3689EF-5545-0B6A-1A83-1F53600B051D}"/>
              </a:ext>
            </a:extLst>
          </p:cNvPr>
          <p:cNvPicPr>
            <a:picLocks noChangeAspect="1"/>
          </p:cNvPicPr>
          <p:nvPr/>
        </p:nvPicPr>
        <p:blipFill>
          <a:blip r:embed="rId2"/>
          <a:stretch>
            <a:fillRect/>
          </a:stretch>
        </p:blipFill>
        <p:spPr>
          <a:xfrm>
            <a:off x="0" y="635326"/>
            <a:ext cx="12192000" cy="5932788"/>
          </a:xfrm>
          <a:prstGeom prst="rect">
            <a:avLst/>
          </a:prstGeom>
        </p:spPr>
      </p:pic>
      <p:sp>
        <p:nvSpPr>
          <p:cNvPr id="16" name="Slide Number Placeholder 15">
            <a:extLst>
              <a:ext uri="{FF2B5EF4-FFF2-40B4-BE49-F238E27FC236}">
                <a16:creationId xmlns:a16="http://schemas.microsoft.com/office/drawing/2014/main" id="{4E39C90E-4F2E-560E-245A-E2F3F8BBDEDD}"/>
              </a:ext>
            </a:extLst>
          </p:cNvPr>
          <p:cNvSpPr>
            <a:spLocks noGrp="1"/>
          </p:cNvSpPr>
          <p:nvPr>
            <p:ph type="sldNum" sz="quarter" idx="12"/>
          </p:nvPr>
        </p:nvSpPr>
        <p:spPr/>
        <p:txBody>
          <a:bodyPr/>
          <a:lstStyle/>
          <a:p>
            <a:fld id="{7B440AA7-77E8-4AB0-ABFE-16BEB06571A0}" type="slidenum">
              <a:rPr lang="en-CA" smtClean="0"/>
              <a:t>21</a:t>
            </a:fld>
            <a:endParaRPr lang="en-CA"/>
          </a:p>
        </p:txBody>
      </p:sp>
      <p:sp>
        <p:nvSpPr>
          <p:cNvPr id="7" name="Title 1">
            <a:extLst>
              <a:ext uri="{FF2B5EF4-FFF2-40B4-BE49-F238E27FC236}">
                <a16:creationId xmlns:a16="http://schemas.microsoft.com/office/drawing/2014/main" id="{EABD6F29-462A-593C-954F-A820A88BE717}"/>
              </a:ext>
            </a:extLst>
          </p:cNvPr>
          <p:cNvSpPr txBox="1">
            <a:spLocks/>
          </p:cNvSpPr>
          <p:nvPr/>
        </p:nvSpPr>
        <p:spPr>
          <a:xfrm>
            <a:off x="10160" y="0"/>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Metrics</a:t>
            </a:r>
          </a:p>
        </p:txBody>
      </p:sp>
      <p:sp>
        <p:nvSpPr>
          <p:cNvPr id="4" name="Frame 3">
            <a:extLst>
              <a:ext uri="{FF2B5EF4-FFF2-40B4-BE49-F238E27FC236}">
                <a16:creationId xmlns:a16="http://schemas.microsoft.com/office/drawing/2014/main" id="{8F2CC2B3-31CC-6151-C5BE-11DBD9F74AB0}"/>
              </a:ext>
            </a:extLst>
          </p:cNvPr>
          <p:cNvSpPr/>
          <p:nvPr/>
        </p:nvSpPr>
        <p:spPr>
          <a:xfrm>
            <a:off x="1828800" y="5029200"/>
            <a:ext cx="1554480" cy="1692275"/>
          </a:xfrm>
          <a:prstGeom prst="frame">
            <a:avLst>
              <a:gd name="adj1" fmla="val 2696"/>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1195799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35BE7-4CE9-D233-F166-9BA9D6AEA7E7}"/>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8EC103F6-7A97-AC8C-7546-473C093D148E}"/>
              </a:ext>
            </a:extLst>
          </p:cNvPr>
          <p:cNvSpPr>
            <a:spLocks noGrp="1"/>
          </p:cNvSpPr>
          <p:nvPr>
            <p:ph type="sldNum" sz="quarter" idx="12"/>
          </p:nvPr>
        </p:nvSpPr>
        <p:spPr/>
        <p:txBody>
          <a:bodyPr/>
          <a:lstStyle/>
          <a:p>
            <a:fld id="{7B440AA7-77E8-4AB0-ABFE-16BEB06571A0}" type="slidenum">
              <a:rPr lang="en-CA" smtClean="0"/>
              <a:t>22</a:t>
            </a:fld>
            <a:endParaRPr lang="en-CA"/>
          </a:p>
        </p:txBody>
      </p:sp>
      <p:sp>
        <p:nvSpPr>
          <p:cNvPr id="7" name="Title 1">
            <a:extLst>
              <a:ext uri="{FF2B5EF4-FFF2-40B4-BE49-F238E27FC236}">
                <a16:creationId xmlns:a16="http://schemas.microsoft.com/office/drawing/2014/main" id="{BEC92820-3BFC-2595-7BB9-04B7B923F8AA}"/>
              </a:ext>
            </a:extLst>
          </p:cNvPr>
          <p:cNvSpPr txBox="1">
            <a:spLocks/>
          </p:cNvSpPr>
          <p:nvPr/>
        </p:nvSpPr>
        <p:spPr>
          <a:xfrm>
            <a:off x="81280" y="227965"/>
            <a:ext cx="12192000" cy="828676"/>
          </a:xfrm>
          <a:prstGeom prst="rect">
            <a:avLst/>
          </a:prstGeom>
          <a:noFill/>
          <a:ln>
            <a:no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b="1" dirty="0">
                <a:ln w="0">
                  <a:solidFill>
                    <a:srgbClr val="012141"/>
                  </a:solidFill>
                </a:ln>
                <a:solidFill>
                  <a:srgbClr val="012141"/>
                </a:solidFill>
                <a:effectLst>
                  <a:outerShdw blurRad="38100" dist="19050" dir="2700000" algn="tl" rotWithShape="0">
                    <a:schemeClr val="dk1">
                      <a:alpha val="40000"/>
                    </a:schemeClr>
                  </a:outerShdw>
                </a:effectLst>
              </a:rPr>
              <a:t>Conclusion</a:t>
            </a:r>
          </a:p>
        </p:txBody>
      </p:sp>
      <p:sp>
        <p:nvSpPr>
          <p:cNvPr id="3" name="TextBox 2">
            <a:extLst>
              <a:ext uri="{FF2B5EF4-FFF2-40B4-BE49-F238E27FC236}">
                <a16:creationId xmlns:a16="http://schemas.microsoft.com/office/drawing/2014/main" id="{56D0B405-01AD-E69C-707E-86978CA8A1D3}"/>
              </a:ext>
            </a:extLst>
          </p:cNvPr>
          <p:cNvSpPr txBox="1"/>
          <p:nvPr/>
        </p:nvSpPr>
        <p:spPr>
          <a:xfrm>
            <a:off x="1615440" y="1444338"/>
            <a:ext cx="9123680" cy="4524315"/>
          </a:xfrm>
          <a:prstGeom prst="rect">
            <a:avLst/>
          </a:prstGeom>
          <a:noFill/>
        </p:spPr>
        <p:txBody>
          <a:bodyPr wrap="square">
            <a:spAutoFit/>
          </a:bodyPr>
          <a:lstStyle/>
          <a:p>
            <a:pPr algn="just"/>
            <a:r>
              <a:rPr lang="en-US" sz="2400" dirty="0">
                <a:effectLst/>
              </a:rPr>
              <a:t>The development and implementation of the breast cancer classification model using Azure ML Studio have successfully demonstrated the ability to predict Malignant and Benign diagnoses with high recall and accuracy, leveraging the ‘</a:t>
            </a:r>
            <a:r>
              <a:rPr lang="en-US" sz="2400" i="1" dirty="0">
                <a:effectLst/>
              </a:rPr>
              <a:t>BreastCancer.csv’</a:t>
            </a:r>
            <a:r>
              <a:rPr lang="en-US" sz="2400" dirty="0">
                <a:effectLst/>
              </a:rPr>
              <a:t> dataset. </a:t>
            </a:r>
          </a:p>
          <a:p>
            <a:pPr algn="just"/>
            <a:endParaRPr lang="en-US" sz="2400" dirty="0"/>
          </a:p>
          <a:p>
            <a:pPr algn="just"/>
            <a:r>
              <a:rPr lang="en-US" sz="2400" dirty="0">
                <a:effectLst/>
              </a:rPr>
              <a:t>This solution enhances diagnostic support by providing reliable insights based on tumor characteristics, offering a scalable and integrable tool for healthcare professionals. </a:t>
            </a:r>
          </a:p>
          <a:p>
            <a:pPr algn="just"/>
            <a:endParaRPr lang="en-US" sz="2400" dirty="0"/>
          </a:p>
          <a:p>
            <a:pPr algn="just"/>
            <a:r>
              <a:rPr lang="en-US" sz="2400" dirty="0">
                <a:effectLst/>
              </a:rPr>
              <a:t>Future enhancements, including model optimization and real-time deployment, will further improve its efficacy, solidifying its potential as a critical asset in early cancer detection and patient care.</a:t>
            </a:r>
          </a:p>
        </p:txBody>
      </p:sp>
    </p:spTree>
    <p:extLst>
      <p:ext uri="{BB962C8B-B14F-4D97-AF65-F5344CB8AC3E}">
        <p14:creationId xmlns:p14="http://schemas.microsoft.com/office/powerpoint/2010/main" val="1658733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D3AD4-D665-CD28-0899-26A291B9B15D}"/>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6F395C4F-58D3-0ECA-74C9-5CF90FE7231E}"/>
              </a:ext>
            </a:extLst>
          </p:cNvPr>
          <p:cNvSpPr>
            <a:spLocks noGrp="1"/>
          </p:cNvSpPr>
          <p:nvPr>
            <p:ph type="sldNum" sz="quarter" idx="12"/>
          </p:nvPr>
        </p:nvSpPr>
        <p:spPr/>
        <p:txBody>
          <a:bodyPr/>
          <a:lstStyle/>
          <a:p>
            <a:fld id="{7B440AA7-77E8-4AB0-ABFE-16BEB06571A0}" type="slidenum">
              <a:rPr lang="en-CA" smtClean="0"/>
              <a:t>23</a:t>
            </a:fld>
            <a:endParaRPr lang="en-CA"/>
          </a:p>
        </p:txBody>
      </p:sp>
      <p:sp>
        <p:nvSpPr>
          <p:cNvPr id="7" name="Title 1">
            <a:extLst>
              <a:ext uri="{FF2B5EF4-FFF2-40B4-BE49-F238E27FC236}">
                <a16:creationId xmlns:a16="http://schemas.microsoft.com/office/drawing/2014/main" id="{49C3980F-FF23-B99E-9688-73C06EFC7EB5}"/>
              </a:ext>
            </a:extLst>
          </p:cNvPr>
          <p:cNvSpPr txBox="1">
            <a:spLocks/>
          </p:cNvSpPr>
          <p:nvPr/>
        </p:nvSpPr>
        <p:spPr>
          <a:xfrm>
            <a:off x="4104640" y="1717040"/>
            <a:ext cx="3982720" cy="1808479"/>
          </a:xfrm>
          <a:prstGeom prst="rect">
            <a:avLst/>
          </a:prstGeom>
          <a:noFill/>
          <a:ln>
            <a:noFill/>
          </a:ln>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13800" b="1" dirty="0">
                <a:ln w="0">
                  <a:solidFill>
                    <a:srgbClr val="012141"/>
                  </a:solidFill>
                </a:ln>
                <a:solidFill>
                  <a:srgbClr val="FF0000"/>
                </a:solidFill>
                <a:effectLst>
                  <a:outerShdw blurRad="38100" dist="19050" dir="2700000" algn="tl" rotWithShape="0">
                    <a:schemeClr val="dk1">
                      <a:alpha val="40000"/>
                    </a:schemeClr>
                  </a:outerShdw>
                </a:effectLst>
              </a:rPr>
              <a:t>Q</a:t>
            </a:r>
            <a:r>
              <a:rPr lang="en-CA" sz="13800" b="1" dirty="0">
                <a:ln w="0">
                  <a:solidFill>
                    <a:srgbClr val="012141"/>
                  </a:solidFill>
                </a:ln>
                <a:solidFill>
                  <a:srgbClr val="012141"/>
                </a:solidFill>
                <a:effectLst>
                  <a:outerShdw blurRad="38100" dist="19050" dir="2700000" algn="tl" rotWithShape="0">
                    <a:schemeClr val="dk1">
                      <a:alpha val="40000"/>
                    </a:schemeClr>
                  </a:outerShdw>
                </a:effectLst>
              </a:rPr>
              <a:t> </a:t>
            </a:r>
            <a:r>
              <a:rPr lang="en-CA" sz="10400" b="1" dirty="0">
                <a:ln w="0">
                  <a:solidFill>
                    <a:srgbClr val="012141"/>
                  </a:solidFill>
                </a:ln>
                <a:solidFill>
                  <a:schemeClr val="accent2"/>
                </a:solidFill>
                <a:effectLst>
                  <a:outerShdw blurRad="38100" dist="19050" dir="2700000" algn="tl" rotWithShape="0">
                    <a:schemeClr val="dk1">
                      <a:alpha val="40000"/>
                    </a:schemeClr>
                  </a:outerShdw>
                </a:effectLst>
              </a:rPr>
              <a:t>&amp;</a:t>
            </a:r>
            <a:r>
              <a:rPr lang="en-CA" sz="13800" b="1" dirty="0">
                <a:ln w="0">
                  <a:solidFill>
                    <a:srgbClr val="012141"/>
                  </a:solidFill>
                </a:ln>
                <a:solidFill>
                  <a:srgbClr val="012141"/>
                </a:solidFill>
                <a:effectLst>
                  <a:outerShdw blurRad="38100" dist="19050" dir="2700000" algn="tl" rotWithShape="0">
                    <a:schemeClr val="dk1">
                      <a:alpha val="40000"/>
                    </a:schemeClr>
                  </a:outerShdw>
                </a:effectLst>
              </a:rPr>
              <a:t> </a:t>
            </a:r>
            <a:r>
              <a:rPr lang="en-CA" sz="13800" b="1" dirty="0">
                <a:ln w="0">
                  <a:solidFill>
                    <a:srgbClr val="012141"/>
                  </a:solidFill>
                </a:ln>
                <a:solidFill>
                  <a:srgbClr val="00B050"/>
                </a:solidFill>
                <a:effectLst>
                  <a:outerShdw blurRad="38100" dist="19050" dir="2700000" algn="tl" rotWithShape="0">
                    <a:schemeClr val="dk1">
                      <a:alpha val="40000"/>
                    </a:schemeClr>
                  </a:outerShdw>
                </a:effectLst>
              </a:rPr>
              <a:t>A</a:t>
            </a:r>
          </a:p>
        </p:txBody>
      </p:sp>
      <p:pic>
        <p:nvPicPr>
          <p:cNvPr id="3" name="Picture 2">
            <a:extLst>
              <a:ext uri="{FF2B5EF4-FFF2-40B4-BE49-F238E27FC236}">
                <a16:creationId xmlns:a16="http://schemas.microsoft.com/office/drawing/2014/main" id="{31ECE006-4686-9E24-34C4-4AEB7B7E213C}"/>
              </a:ext>
            </a:extLst>
          </p:cNvPr>
          <p:cNvPicPr>
            <a:picLocks noChangeAspect="1"/>
          </p:cNvPicPr>
          <p:nvPr/>
        </p:nvPicPr>
        <p:blipFill>
          <a:blip r:embed="rId2"/>
          <a:srcRect t="10222"/>
          <a:stretch/>
        </p:blipFill>
        <p:spPr>
          <a:xfrm>
            <a:off x="2401389" y="0"/>
            <a:ext cx="9770029" cy="6903720"/>
          </a:xfrm>
          <a:prstGeom prst="rect">
            <a:avLst/>
          </a:prstGeom>
        </p:spPr>
      </p:pic>
      <p:sp>
        <p:nvSpPr>
          <p:cNvPr id="2" name="Title 1">
            <a:extLst>
              <a:ext uri="{FF2B5EF4-FFF2-40B4-BE49-F238E27FC236}">
                <a16:creationId xmlns:a16="http://schemas.microsoft.com/office/drawing/2014/main" id="{0142C8B3-5474-15DF-3928-B8005B7F1856}"/>
              </a:ext>
            </a:extLst>
          </p:cNvPr>
          <p:cNvSpPr txBox="1">
            <a:spLocks/>
          </p:cNvSpPr>
          <p:nvPr/>
        </p:nvSpPr>
        <p:spPr>
          <a:xfrm>
            <a:off x="1" y="0"/>
            <a:ext cx="2421710" cy="6847840"/>
          </a:xfrm>
          <a:prstGeom prst="rect">
            <a:avLst/>
          </a:prstGeom>
          <a:solidFill>
            <a:srgbClr val="C8C9BB"/>
          </a:solidFill>
          <a:ln>
            <a:noFill/>
          </a:ln>
        </p:spPr>
        <p:txBody>
          <a:bodyPr vert="wordArtVe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13800" b="1" dirty="0">
                <a:ln w="0">
                  <a:solidFill>
                    <a:srgbClr val="FFFF00"/>
                  </a:solidFill>
                </a:ln>
                <a:solidFill>
                  <a:srgbClr val="FF0000"/>
                </a:solidFill>
                <a:effectLst>
                  <a:innerShdw blurRad="63500" dist="50800" dir="10800000">
                    <a:prstClr val="black">
                      <a:alpha val="50000"/>
                    </a:prstClr>
                  </a:innerShdw>
                </a:effectLst>
                <a:latin typeface="+mn-lt"/>
              </a:rPr>
              <a:t>Q</a:t>
            </a:r>
            <a:r>
              <a:rPr lang="en-CA" sz="9600" b="1" dirty="0">
                <a:ln w="0">
                  <a:solidFill>
                    <a:srgbClr val="FFFF00"/>
                  </a:solidFill>
                </a:ln>
                <a:solidFill>
                  <a:schemeClr val="accent2"/>
                </a:solidFill>
                <a:effectLst>
                  <a:innerShdw blurRad="63500" dist="50800" dir="10800000">
                    <a:prstClr val="black">
                      <a:alpha val="50000"/>
                    </a:prstClr>
                  </a:innerShdw>
                </a:effectLst>
                <a:latin typeface="+mn-lt"/>
              </a:rPr>
              <a:t>&amp;</a:t>
            </a:r>
            <a:r>
              <a:rPr lang="en-CA" sz="13800" b="1" dirty="0">
                <a:ln w="0">
                  <a:solidFill>
                    <a:srgbClr val="FFFF00"/>
                  </a:solidFill>
                </a:ln>
                <a:solidFill>
                  <a:srgbClr val="00B050"/>
                </a:solidFill>
                <a:effectLst>
                  <a:innerShdw blurRad="63500" dist="50800" dir="10800000">
                    <a:prstClr val="black">
                      <a:alpha val="50000"/>
                    </a:prstClr>
                  </a:innerShdw>
                </a:effectLst>
                <a:latin typeface="+mn-lt"/>
              </a:rPr>
              <a:t>A</a:t>
            </a:r>
          </a:p>
        </p:txBody>
      </p:sp>
    </p:spTree>
    <p:extLst>
      <p:ext uri="{BB962C8B-B14F-4D97-AF65-F5344CB8AC3E}">
        <p14:creationId xmlns:p14="http://schemas.microsoft.com/office/powerpoint/2010/main" val="3037713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A1FB4-1D81-D73C-DCB6-69BED2C7FC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6B29C7-3CF7-F5F6-F276-445767FE3C71}"/>
              </a:ext>
            </a:extLst>
          </p:cNvPr>
          <p:cNvPicPr>
            <a:picLocks noChangeAspect="1"/>
          </p:cNvPicPr>
          <p:nvPr/>
        </p:nvPicPr>
        <p:blipFill>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tretch>
            <a:fillRect/>
          </a:stretch>
        </p:blipFill>
        <p:spPr>
          <a:xfrm>
            <a:off x="0" y="0"/>
            <a:ext cx="12235292" cy="6858000"/>
          </a:xfrm>
          <a:prstGeom prst="rect">
            <a:avLst/>
          </a:prstGeom>
          <a:solidFill>
            <a:srgbClr val="ED4775"/>
          </a:solidFill>
        </p:spPr>
      </p:pic>
      <p:sp>
        <p:nvSpPr>
          <p:cNvPr id="7" name="TextBox 6">
            <a:extLst>
              <a:ext uri="{FF2B5EF4-FFF2-40B4-BE49-F238E27FC236}">
                <a16:creationId xmlns:a16="http://schemas.microsoft.com/office/drawing/2014/main" id="{B50C8137-C092-DCBF-C200-062ADF052ED2}"/>
              </a:ext>
            </a:extLst>
          </p:cNvPr>
          <p:cNvSpPr txBox="1"/>
          <p:nvPr/>
        </p:nvSpPr>
        <p:spPr>
          <a:xfrm>
            <a:off x="0" y="3505200"/>
            <a:ext cx="12125325" cy="830997"/>
          </a:xfrm>
          <a:prstGeom prst="rect">
            <a:avLst/>
          </a:prstGeom>
          <a:noFill/>
        </p:spPr>
        <p:txBody>
          <a:bodyPr wrap="square">
            <a:spAutoFit/>
          </a:bodyPr>
          <a:lstStyle/>
          <a:p>
            <a:pPr algn="ctr"/>
            <a:r>
              <a:rPr lang="en-CA" sz="4800" b="1" dirty="0">
                <a:solidFill>
                  <a:schemeClr val="bg1"/>
                </a:solidFill>
              </a:rPr>
              <a:t>Thank you!</a:t>
            </a:r>
          </a:p>
        </p:txBody>
      </p:sp>
    </p:spTree>
    <p:extLst>
      <p:ext uri="{BB962C8B-B14F-4D97-AF65-F5344CB8AC3E}">
        <p14:creationId xmlns:p14="http://schemas.microsoft.com/office/powerpoint/2010/main" val="4044326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FE94-AA13-4DD2-2565-2FDDF5ED0678}"/>
            </a:ext>
          </a:extLst>
        </p:cNvPr>
        <p:cNvGrpSpPr/>
        <p:nvPr/>
      </p:nvGrpSpPr>
      <p:grpSpPr>
        <a:xfrm>
          <a:off x="0" y="0"/>
          <a:ext cx="0" cy="0"/>
          <a:chOff x="0" y="0"/>
          <a:chExt cx="0" cy="0"/>
        </a:xfrm>
      </p:grpSpPr>
      <p:sp>
        <p:nvSpPr>
          <p:cNvPr id="16" name="Slide Number Placeholder 15">
            <a:extLst>
              <a:ext uri="{FF2B5EF4-FFF2-40B4-BE49-F238E27FC236}">
                <a16:creationId xmlns:a16="http://schemas.microsoft.com/office/drawing/2014/main" id="{BDB71D80-9857-B3CD-C5C4-217AE7EE3D9A}"/>
              </a:ext>
            </a:extLst>
          </p:cNvPr>
          <p:cNvSpPr>
            <a:spLocks noGrp="1"/>
          </p:cNvSpPr>
          <p:nvPr>
            <p:ph type="sldNum" sz="quarter" idx="12"/>
          </p:nvPr>
        </p:nvSpPr>
        <p:spPr/>
        <p:txBody>
          <a:bodyPr/>
          <a:lstStyle/>
          <a:p>
            <a:fld id="{7B440AA7-77E8-4AB0-ABFE-16BEB06571A0}" type="slidenum">
              <a:rPr lang="en-CA" smtClean="0"/>
              <a:t>25</a:t>
            </a:fld>
            <a:endParaRPr lang="en-CA"/>
          </a:p>
        </p:txBody>
      </p:sp>
      <p:sp>
        <p:nvSpPr>
          <p:cNvPr id="7" name="Title 1">
            <a:extLst>
              <a:ext uri="{FF2B5EF4-FFF2-40B4-BE49-F238E27FC236}">
                <a16:creationId xmlns:a16="http://schemas.microsoft.com/office/drawing/2014/main" id="{57BDA993-BB9A-94D7-B61B-4CA9B9B4C6CB}"/>
              </a:ext>
            </a:extLst>
          </p:cNvPr>
          <p:cNvSpPr txBox="1">
            <a:spLocks/>
          </p:cNvSpPr>
          <p:nvPr/>
        </p:nvSpPr>
        <p:spPr>
          <a:xfrm>
            <a:off x="4104640" y="1717040"/>
            <a:ext cx="3982720" cy="1808479"/>
          </a:xfrm>
          <a:prstGeom prst="rect">
            <a:avLst/>
          </a:prstGeom>
          <a:noFill/>
          <a:ln>
            <a:noFill/>
          </a:ln>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13800" b="1" dirty="0">
                <a:ln w="0">
                  <a:solidFill>
                    <a:srgbClr val="012141"/>
                  </a:solidFill>
                </a:ln>
                <a:solidFill>
                  <a:srgbClr val="FF0000"/>
                </a:solidFill>
                <a:effectLst>
                  <a:outerShdw blurRad="38100" dist="19050" dir="2700000" algn="tl" rotWithShape="0">
                    <a:schemeClr val="dk1">
                      <a:alpha val="40000"/>
                    </a:schemeClr>
                  </a:outerShdw>
                </a:effectLst>
              </a:rPr>
              <a:t>Q</a:t>
            </a:r>
            <a:r>
              <a:rPr lang="en-CA" sz="13800" b="1" dirty="0">
                <a:ln w="0">
                  <a:solidFill>
                    <a:srgbClr val="012141"/>
                  </a:solidFill>
                </a:ln>
                <a:solidFill>
                  <a:srgbClr val="012141"/>
                </a:solidFill>
                <a:effectLst>
                  <a:outerShdw blurRad="38100" dist="19050" dir="2700000" algn="tl" rotWithShape="0">
                    <a:schemeClr val="dk1">
                      <a:alpha val="40000"/>
                    </a:schemeClr>
                  </a:outerShdw>
                </a:effectLst>
              </a:rPr>
              <a:t> </a:t>
            </a:r>
            <a:r>
              <a:rPr lang="en-CA" sz="10400" b="1" dirty="0">
                <a:ln w="0">
                  <a:solidFill>
                    <a:srgbClr val="012141"/>
                  </a:solidFill>
                </a:ln>
                <a:solidFill>
                  <a:schemeClr val="accent2"/>
                </a:solidFill>
                <a:effectLst>
                  <a:outerShdw blurRad="38100" dist="19050" dir="2700000" algn="tl" rotWithShape="0">
                    <a:schemeClr val="dk1">
                      <a:alpha val="40000"/>
                    </a:schemeClr>
                  </a:outerShdw>
                </a:effectLst>
              </a:rPr>
              <a:t>&amp;</a:t>
            </a:r>
            <a:r>
              <a:rPr lang="en-CA" sz="13800" b="1" dirty="0">
                <a:ln w="0">
                  <a:solidFill>
                    <a:srgbClr val="012141"/>
                  </a:solidFill>
                </a:ln>
                <a:solidFill>
                  <a:srgbClr val="012141"/>
                </a:solidFill>
                <a:effectLst>
                  <a:outerShdw blurRad="38100" dist="19050" dir="2700000" algn="tl" rotWithShape="0">
                    <a:schemeClr val="dk1">
                      <a:alpha val="40000"/>
                    </a:schemeClr>
                  </a:outerShdw>
                </a:effectLst>
              </a:rPr>
              <a:t> </a:t>
            </a:r>
            <a:r>
              <a:rPr lang="en-CA" sz="13800" b="1" dirty="0">
                <a:ln w="0">
                  <a:solidFill>
                    <a:srgbClr val="012141"/>
                  </a:solidFill>
                </a:ln>
                <a:solidFill>
                  <a:srgbClr val="00B050"/>
                </a:solidFill>
                <a:effectLst>
                  <a:outerShdw blurRad="38100" dist="19050" dir="2700000" algn="tl" rotWithShape="0">
                    <a:schemeClr val="dk1">
                      <a:alpha val="40000"/>
                    </a:schemeClr>
                  </a:outerShdw>
                </a:effectLst>
              </a:rPr>
              <a:t>A</a:t>
            </a:r>
          </a:p>
        </p:txBody>
      </p:sp>
    </p:spTree>
    <p:extLst>
      <p:ext uri="{BB962C8B-B14F-4D97-AF65-F5344CB8AC3E}">
        <p14:creationId xmlns:p14="http://schemas.microsoft.com/office/powerpoint/2010/main" val="4221944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5063</TotalTime>
  <Words>828</Words>
  <Application>Microsoft Office PowerPoint</Application>
  <PresentationFormat>Widescreen</PresentationFormat>
  <Paragraphs>191</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inherit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Shirmila Hewapathirana</dc:creator>
  <cp:lastModifiedBy>Shirmila Hewapathirana</cp:lastModifiedBy>
  <cp:revision>615</cp:revision>
  <cp:lastPrinted>2024-11-14T04:03:35Z</cp:lastPrinted>
  <dcterms:created xsi:type="dcterms:W3CDTF">2024-11-13T17:31:53Z</dcterms:created>
  <dcterms:modified xsi:type="dcterms:W3CDTF">2025-05-14T00:55:50Z</dcterms:modified>
</cp:coreProperties>
</file>